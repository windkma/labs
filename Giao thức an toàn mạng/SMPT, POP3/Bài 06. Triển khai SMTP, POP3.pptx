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3" r:id="rId9"/>
    <p:sldId id="270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">
  <p:cSld name="Slide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9"/>
          <p:cNvPicPr preferRelativeResize="0"/>
          <p:nvPr/>
        </p:nvPicPr>
        <p:blipFill rotWithShape="1">
          <a:blip r:embed="rId2"/>
          <a:srcRect b="15749"/>
          <a:stretch>
            <a:fillRect/>
          </a:stretch>
        </p:blipFill>
        <p:spPr>
          <a:xfrm>
            <a:off x="7042172" y="2937164"/>
            <a:ext cx="5149827" cy="392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1199" y="347825"/>
            <a:ext cx="2828693" cy="4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/>
        </p:nvSpPr>
        <p:spPr>
          <a:xfrm>
            <a:off x="42393" y="6456315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9"/>
          <p:cNvSpPr txBox="1"/>
          <p:nvPr/>
        </p:nvSpPr>
        <p:spPr>
          <a:xfrm>
            <a:off x="4782064" y="6529474"/>
            <a:ext cx="7367543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4"/>
          <a:srcRect l="8202" t="3636" r="9277" b="4781"/>
          <a:stretch>
            <a:fillRect/>
          </a:stretch>
        </p:blipFill>
        <p:spPr>
          <a:xfrm>
            <a:off x="11244125" y="62234"/>
            <a:ext cx="824168" cy="9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">
  <p:cSld name="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30"/>
          <p:cNvGrpSpPr/>
          <p:nvPr/>
        </p:nvGrpSpPr>
        <p:grpSpPr>
          <a:xfrm>
            <a:off x="8256539" y="30869"/>
            <a:ext cx="3846759" cy="1080603"/>
            <a:chOff x="8308168" y="-57704"/>
            <a:chExt cx="3846759" cy="1080603"/>
          </a:xfrm>
        </p:grpSpPr>
        <p:pic>
          <p:nvPicPr>
            <p:cNvPr id="22" name="Google Shape;22;p30"/>
            <p:cNvPicPr preferRelativeResize="0"/>
            <p:nvPr/>
          </p:nvPicPr>
          <p:blipFill rotWithShape="1">
            <a:blip r:embed="rId3"/>
            <a:srcRect l="5460" r="6685"/>
            <a:stretch>
              <a:fillRect/>
            </a:stretch>
          </p:blipFill>
          <p:spPr>
            <a:xfrm>
              <a:off x="11203582" y="-57704"/>
              <a:ext cx="951345" cy="108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0"/>
          <p:cNvSpPr txBox="1"/>
          <p:nvPr/>
        </p:nvSpPr>
        <p:spPr>
          <a:xfrm>
            <a:off x="0" y="6530109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 panose="020F0502020204030204"/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0"/>
          <p:cNvSpPr txBox="1"/>
          <p:nvPr/>
        </p:nvSpPr>
        <p:spPr>
          <a:xfrm>
            <a:off x="0" y="6530109"/>
            <a:ext cx="7451124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">
  <p:cSld name="Slide 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>
            <a:spLocks noGrp="1"/>
          </p:cNvSpPr>
          <p:nvPr>
            <p:ph type="pic" idx="2"/>
          </p:nvPr>
        </p:nvSpPr>
        <p:spPr>
          <a:xfrm>
            <a:off x="1600201" y="2085976"/>
            <a:ext cx="3971925" cy="2162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31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/>
          <a:srcRect l="5089" t="2190" r="3980" b="2133"/>
          <a:stretch>
            <a:fillRect/>
          </a:stretch>
        </p:blipFill>
        <p:spPr>
          <a:xfrm>
            <a:off x="36558" y="0"/>
            <a:ext cx="1071806" cy="1125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1238250" y="5160010"/>
            <a:ext cx="557339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Sinh viên thực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hiện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Phan Thế Phong -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AT200345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5638800" y="299197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1" y="1513830"/>
            <a:ext cx="1234440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3600" b="1" dirty="0">
                <a:solidFill>
                  <a:schemeClr val="dk1"/>
                </a:solidFill>
                <a:latin typeface="Constantia" panose="02030602050306030303"/>
              </a:rPr>
              <a:t>TRIỂN KHAI GIAO THỨC SMTP V</a:t>
            </a:r>
            <a:r>
              <a:rPr lang="en-US" altLang="en-US" sz="3600" b="1" dirty="0">
                <a:solidFill>
                  <a:schemeClr val="dk1"/>
                </a:solidFill>
                <a:latin typeface="Constantia" panose="02030602050306030303"/>
              </a:rPr>
              <a:t>À</a:t>
            </a:r>
            <a:r>
              <a:rPr lang="en-US" altLang="en-GB" sz="3600" b="1" dirty="0">
                <a:solidFill>
                  <a:schemeClr val="dk1"/>
                </a:solidFill>
                <a:latin typeface="Constantia" panose="02030602050306030303"/>
              </a:rPr>
              <a:t> PO</a:t>
            </a:r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P3</a:t>
            </a:r>
            <a:endParaRPr lang="vi-VN" altLang="en-US" sz="3600" b="1" dirty="0">
              <a:solidFill>
                <a:schemeClr val="dk1"/>
              </a:solidFill>
              <a:latin typeface="Constantia" panose="020306020503060303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1106182" y="2602390"/>
            <a:ext cx="25314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NỘI DUNG</a:t>
            </a:r>
            <a:endParaRPr lang="en-US" sz="3600" b="1">
              <a:solidFill>
                <a:srgbClr val="1D7C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4" name="Google Shape;154;p2"/>
          <p:cNvGrpSpPr/>
          <p:nvPr>
            <p:custDataLst>
              <p:tags r:id="rId1"/>
            </p:custDataLst>
          </p:nvPr>
        </p:nvGrpSpPr>
        <p:grpSpPr>
          <a:xfrm>
            <a:off x="3840888" y="1525715"/>
            <a:ext cx="7382614" cy="705485"/>
            <a:chOff x="5561568" y="2150659"/>
            <a:chExt cx="5563680" cy="708860"/>
          </a:xfrm>
        </p:grpSpPr>
        <p:sp>
          <p:nvSpPr>
            <p:cNvPr id="155" name="Google Shape;155;p2"/>
            <p:cNvSpPr txBox="1"/>
            <p:nvPr>
              <p:custDataLst>
                <p:tags r:id="rId2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Thiết lập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chung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2"/>
            <p:cNvSpPr txBox="1"/>
            <p:nvPr>
              <p:custDataLst>
                <p:tags r:id="rId3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" name="Google Shape;154;p2"/>
          <p:cNvGrpSpPr/>
          <p:nvPr>
            <p:custDataLst>
              <p:tags r:id="rId4"/>
            </p:custDataLst>
          </p:nvPr>
        </p:nvGrpSpPr>
        <p:grpSpPr>
          <a:xfrm>
            <a:off x="3840888" y="3515170"/>
            <a:ext cx="7382614" cy="705485"/>
            <a:chOff x="5561568" y="2150659"/>
            <a:chExt cx="5563680" cy="708860"/>
          </a:xfrm>
        </p:grpSpPr>
        <p:sp>
          <p:nvSpPr>
            <p:cNvPr id="3" name="Google Shape;155;p2"/>
            <p:cNvSpPr txBox="1"/>
            <p:nvPr>
              <p:custDataLst>
                <p:tags r:id="rId5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Triển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khai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Google Shape;156;p2"/>
            <p:cNvSpPr txBox="1"/>
            <p:nvPr>
              <p:custDataLst>
                <p:tags r:id="rId6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Thiết lập </a:t>
            </a:r>
            <a:r>
              <a:rPr lang="vi-VN" altLang="en-GB" sz="4800"/>
              <a:t>chung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Thiết lập </a:t>
            </a:r>
            <a:r>
              <a:rPr lang="vi-VN" altLang="en-GB">
                <a:sym typeface="+mn-ea"/>
              </a:rPr>
              <a:t>chung</a:t>
            </a:r>
            <a:endParaRPr lang="vi-VN" altLang="en-GB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87145" y="1350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Mô hình </a:t>
            </a:r>
            <a:r>
              <a:rPr lang="vi-VN" altLang="en-GB"/>
              <a:t>mạng</a:t>
            </a:r>
            <a:endParaRPr lang="vi-VN" alt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775" y="1848485"/>
            <a:ext cx="7877175" cy="3533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Thiết lập chung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103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Cấu hình DNS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" y="2691765"/>
            <a:ext cx="10487660" cy="36957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59740" y="1580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Tạo bản ghi A cho mail và bản ghi </a:t>
            </a:r>
            <a:r>
              <a:rPr lang="vi-VN" altLang="en-GB"/>
              <a:t>MX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Thiết lập </a:t>
            </a:r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chung</a:t>
            </a:r>
            <a:endParaRPr lang="vi-VN" altLang="en-US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14400" y="1314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Tạo domain trong file </a:t>
            </a:r>
            <a:r>
              <a:rPr lang="vi-VN" altLang="en-GB"/>
              <a:t>hosts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891" t="1379" r="19025" b="8227"/>
          <a:stretch>
            <a:fillRect/>
          </a:stretch>
        </p:blipFill>
        <p:spPr>
          <a:xfrm>
            <a:off x="4361180" y="1118870"/>
            <a:ext cx="6848475" cy="528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Triển </a:t>
            </a:r>
            <a:r>
              <a:rPr lang="vi-VN" altLang="en-GB" sz="4800"/>
              <a:t>khai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49960" y="1562735"/>
            <a:ext cx="1063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Cài và thiết lập Mdaemon trên máy </a:t>
            </a:r>
            <a:r>
              <a:rPr lang="vi-VN" altLang="en-GB"/>
              <a:t>server</a:t>
            </a:r>
            <a:endParaRPr lang="vi-VN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1136650" y="2256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Tạo 2 tài khoản </a:t>
            </a:r>
            <a:r>
              <a:rPr lang="vi-VN" altLang="en-GB"/>
              <a:t>user trên </a:t>
            </a:r>
            <a:r>
              <a:rPr lang="vi-VN" altLang="en-GB"/>
              <a:t>Mdaemon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13928" b="30322"/>
          <a:stretch>
            <a:fillRect/>
          </a:stretch>
        </p:blipFill>
        <p:spPr>
          <a:xfrm>
            <a:off x="5726430" y="886460"/>
            <a:ext cx="6247130" cy="33648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4344035"/>
            <a:ext cx="6515100" cy="195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77800" y="1518285"/>
            <a:ext cx="6767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Tải Thunderbird và đăng nhập tài khoản user</a:t>
            </a:r>
            <a:r>
              <a:rPr lang="vi-VN" altLang="en-GB"/>
              <a:t>1 trên máy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900" t="2979" r="10519" b="7267"/>
          <a:stretch>
            <a:fillRect/>
          </a:stretch>
        </p:blipFill>
        <p:spPr>
          <a:xfrm>
            <a:off x="7105650" y="1109980"/>
            <a:ext cx="4876800" cy="5223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21778" r="27596" b="42731"/>
          <a:stretch>
            <a:fillRect/>
          </a:stretch>
        </p:blipFill>
        <p:spPr>
          <a:xfrm>
            <a:off x="676910" y="2529205"/>
            <a:ext cx="3923665" cy="24339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21615" y="1607185"/>
            <a:ext cx="10574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Thiết lập chỉ định máy chủ nhận và máy chủ gửi thư vào cùng một máy </a:t>
            </a:r>
            <a:r>
              <a:rPr lang="vi-VN" altLang="en-GB"/>
              <a:t>server</a:t>
            </a:r>
            <a:endParaRPr lang="vi-VN" altLang="en-GB"/>
          </a:p>
          <a:p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1148" t="58018" r="26448" b="2306"/>
          <a:stretch>
            <a:fillRect/>
          </a:stretch>
        </p:blipFill>
        <p:spPr>
          <a:xfrm>
            <a:off x="6040755" y="2529205"/>
            <a:ext cx="3923665" cy="2720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66470" y="1544320"/>
            <a:ext cx="11002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Tải Thunderbird và đăng nhập user2 trên máy client, cài đặt máy chủ gửi và </a:t>
            </a:r>
            <a:r>
              <a:rPr lang="vi-VN" altLang="en-GB"/>
              <a:t>nhận trỏ vào máy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990" t="3720" r="1235" b="11654"/>
          <a:stretch>
            <a:fillRect/>
          </a:stretch>
        </p:blipFill>
        <p:spPr>
          <a:xfrm>
            <a:off x="1031875" y="2137410"/>
            <a:ext cx="8710295" cy="3623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220470" y="1412875"/>
            <a:ext cx="436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Thực hiện </a:t>
            </a:r>
            <a:r>
              <a:rPr lang="vi-VN" altLang="en-GB"/>
              <a:t>gửi thư từ user2 sang </a:t>
            </a:r>
            <a:r>
              <a:rPr lang="vi-VN" altLang="en-GB"/>
              <a:t>user1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52669" b="17861"/>
          <a:stretch>
            <a:fillRect/>
          </a:stretch>
        </p:blipFill>
        <p:spPr>
          <a:xfrm>
            <a:off x="1044575" y="1989455"/>
            <a:ext cx="4791075" cy="31362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601460" y="1541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Nhận được thư trả </a:t>
            </a:r>
            <a:r>
              <a:rPr lang="vi-VN" altLang="en-GB"/>
              <a:t>lời</a:t>
            </a:r>
            <a:endParaRPr lang="vi-VN" alt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61557"/>
          <a:stretch>
            <a:fillRect/>
          </a:stretch>
        </p:blipFill>
        <p:spPr>
          <a:xfrm>
            <a:off x="6096000" y="1989455"/>
            <a:ext cx="5871845" cy="2164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464" t="-248" r="34427" b="248"/>
          <a:stretch>
            <a:fillRect/>
          </a:stretch>
        </p:blipFill>
        <p:spPr>
          <a:xfrm>
            <a:off x="576580" y="2006600"/>
            <a:ext cx="5519420" cy="40957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12495" y="1502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Trả lời </a:t>
            </a:r>
            <a:r>
              <a:rPr lang="vi-VN" altLang="en-GB"/>
              <a:t>lại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-35482" t="-7938" r="35482" b="7938"/>
          <a:stretch>
            <a:fillRect/>
          </a:stretch>
        </p:blipFill>
        <p:spPr>
          <a:xfrm>
            <a:off x="3608705" y="1870710"/>
            <a:ext cx="8005445" cy="2832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33185" y="1581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Nhận được thư trả lời </a:t>
            </a:r>
            <a:r>
              <a:rPr lang="vi-VN" altLang="en-GB"/>
              <a:t>lại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12190" y="900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gói tin </a:t>
            </a:r>
            <a:r>
              <a:rPr lang="vi-VN" altLang="en-GB"/>
              <a:t>POP3 trên </a:t>
            </a:r>
            <a:r>
              <a:rPr lang="vi-VN" altLang="en-GB"/>
              <a:t>wireshark</a:t>
            </a:r>
            <a:endParaRPr lang="vi-VN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0" y="4127500"/>
            <a:ext cx="120605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55: (220) là gói dịch vụ đã sẵn sàng từ server-&gt;</a:t>
            </a:r>
            <a:r>
              <a:rPr lang="vi-VN" altLang="en-GB"/>
              <a:t>client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56: là gói hello từ client-&gt;server, sau đó server phản hồi lại 250 (hành động yêu cầu được chấp </a:t>
            </a:r>
            <a:r>
              <a:rPr lang="vi-VN" altLang="en-GB"/>
              <a:t>nhận)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60-63 là xác thực bằng </a:t>
            </a:r>
            <a:r>
              <a:rPr lang="vi-VN" altLang="en-GB"/>
              <a:t>challenge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64: gói khai báo người gửi MAIL FROM, sau đó server phản hồi sender </a:t>
            </a:r>
            <a:r>
              <a:rPr lang="vi-VN" altLang="en-GB"/>
              <a:t>ok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66: gói khai báo người nhận RCPT TO, sau đó server phản hồi Recipient </a:t>
            </a:r>
            <a:r>
              <a:rPr lang="vi-VN" altLang="en-GB"/>
              <a:t>ok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68: gói (DATA) máy khách xin phép truyền nội dung, sau đó server phản hồi 354 bắt đầu nhận nội </a:t>
            </a:r>
            <a:r>
              <a:rPr lang="vi-VN" altLang="en-GB"/>
              <a:t>dung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76: ngắt kết </a:t>
            </a:r>
            <a:r>
              <a:rPr lang="vi-VN" altLang="en-GB"/>
              <a:t>nối </a:t>
            </a:r>
            <a:endParaRPr lang="vi-VN" alt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24516"/>
          <a:stretch>
            <a:fillRect/>
          </a:stretch>
        </p:blipFill>
        <p:spPr>
          <a:xfrm>
            <a:off x="0" y="900430"/>
            <a:ext cx="12192000" cy="3096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b="4152"/>
          <a:stretch>
            <a:fillRect/>
          </a:stretch>
        </p:blipFill>
        <p:spPr>
          <a:xfrm>
            <a:off x="0" y="1090295"/>
            <a:ext cx="12192000" cy="41929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5283200"/>
            <a:ext cx="121240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285: chào hỏi kèm timestamp </a:t>
            </a:r>
            <a:r>
              <a:rPr lang="vi-VN" altLang="en-GB"/>
              <a:t>challenge 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290: gửi hash của challenge + pass, sau đó server gửi xác thực thành </a:t>
            </a:r>
            <a:r>
              <a:rPr lang="vi-VN" altLang="en-GB"/>
              <a:t>công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292-&gt;301: kiểm tra và liệt kê hòm </a:t>
            </a:r>
            <a:r>
              <a:rPr lang="vi-VN" altLang="en-GB"/>
              <a:t>thư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302-&gt; 309: kéo nội dung hòm thư về máy </a:t>
            </a:r>
            <a:r>
              <a:rPr lang="vi-VN" altLang="en-GB"/>
              <a:t>khách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311-312: đóng </a:t>
            </a:r>
            <a:r>
              <a:rPr lang="vi-VN" altLang="en-GB"/>
              <a:t>phiên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2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3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4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5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6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</Words>
  <Application>WPS Presentation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Arial</vt:lpstr>
      <vt:lpstr>Times New Roman</vt:lpstr>
      <vt:lpstr>Constantia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Thiết lập chung</vt:lpstr>
      <vt:lpstr>Thiết lập chung</vt:lpstr>
      <vt:lpstr>Thiết lập chung</vt:lpstr>
      <vt:lpstr>PowerPoint 演示文稿</vt:lpstr>
      <vt:lpstr>Triển khai</vt:lpstr>
      <vt:lpstr>Triển khai</vt:lpstr>
      <vt:lpstr>Triển khai</vt:lpstr>
      <vt:lpstr>Triển khai</vt:lpstr>
      <vt:lpstr>Triển khai</vt:lpstr>
      <vt:lpstr>Triển khai</vt:lpstr>
      <vt:lpstr>Triển khai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Phong Phan Thế</cp:lastModifiedBy>
  <cp:revision>5</cp:revision>
  <dcterms:created xsi:type="dcterms:W3CDTF">2025-07-23T00:59:00Z</dcterms:created>
  <dcterms:modified xsi:type="dcterms:W3CDTF">2026-06-12T15:39:50Z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9852483F23E245DCA93707867755A7F4_11</vt:lpwstr>
  </property>
  <property fmtid="{D5CDD505-2E9C-101B-9397-08002B2CF9AE}" pid="3" name="KSOProductBuildVer">
    <vt:lpwstr>2057-12.2.0.23202</vt:lpwstr>
  </property>
</Properties>
</file>