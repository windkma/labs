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4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70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1">
  <p:cSld name="Slide 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9"/>
          <p:cNvPicPr preferRelativeResize="0"/>
          <p:nvPr/>
        </p:nvPicPr>
        <p:blipFill rotWithShape="1">
          <a:blip r:embed="rId2"/>
          <a:srcRect b="15749"/>
          <a:stretch>
            <a:fillRect/>
          </a:stretch>
        </p:blipFill>
        <p:spPr>
          <a:xfrm>
            <a:off x="7042172" y="2937164"/>
            <a:ext cx="5149827" cy="392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1199" y="347825"/>
            <a:ext cx="2828693" cy="4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9"/>
          <p:cNvSpPr txBox="1"/>
          <p:nvPr/>
        </p:nvSpPr>
        <p:spPr>
          <a:xfrm>
            <a:off x="4782064" y="6530109"/>
            <a:ext cx="7367543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18;p29"/>
          <p:cNvPicPr preferRelativeResize="0"/>
          <p:nvPr/>
        </p:nvPicPr>
        <p:blipFill rotWithShape="1">
          <a:blip r:embed="rId4"/>
          <a:srcRect l="8202" t="3636" r="9277" b="4781"/>
          <a:stretch>
            <a:fillRect/>
          </a:stretch>
        </p:blipFill>
        <p:spPr>
          <a:xfrm>
            <a:off x="11244125" y="62234"/>
            <a:ext cx="824168" cy="91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2">
  <p:cSld name="Slide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30"/>
          <p:cNvGrpSpPr/>
          <p:nvPr/>
        </p:nvGrpSpPr>
        <p:grpSpPr>
          <a:xfrm>
            <a:off x="8256539" y="30869"/>
            <a:ext cx="3846759" cy="1080603"/>
            <a:chOff x="8308168" y="-57704"/>
            <a:chExt cx="3846759" cy="1080603"/>
          </a:xfrm>
        </p:grpSpPr>
        <p:pic>
          <p:nvPicPr>
            <p:cNvPr id="22" name="Google Shape;22;p30"/>
            <p:cNvPicPr preferRelativeResize="0"/>
            <p:nvPr/>
          </p:nvPicPr>
          <p:blipFill rotWithShape="1">
            <a:blip r:embed="rId3"/>
            <a:srcRect l="5460" r="6685"/>
            <a:stretch>
              <a:fillRect/>
            </a:stretch>
          </p:blipFill>
          <p:spPr>
            <a:xfrm>
              <a:off x="11203582" y="-57704"/>
              <a:ext cx="951345" cy="108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0"/>
          <p:cNvSpPr txBox="1"/>
          <p:nvPr/>
        </p:nvSpPr>
        <p:spPr>
          <a:xfrm>
            <a:off x="0" y="6530109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 panose="020F0502020204030204"/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0"/>
          <p:cNvSpPr txBox="1"/>
          <p:nvPr/>
        </p:nvSpPr>
        <p:spPr>
          <a:xfrm>
            <a:off x="0" y="6530109"/>
            <a:ext cx="7451124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">
  <p:cSld name="Slide 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>
            <a:spLocks noGrp="1"/>
          </p:cNvSpPr>
          <p:nvPr>
            <p:ph type="pic" idx="2"/>
          </p:nvPr>
        </p:nvSpPr>
        <p:spPr>
          <a:xfrm>
            <a:off x="1600201" y="2085976"/>
            <a:ext cx="3971925" cy="2162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" name="Google Shape;30;p31"/>
          <p:cNvSpPr txBox="1"/>
          <p:nvPr/>
        </p:nvSpPr>
        <p:spPr>
          <a:xfrm>
            <a:off x="42392" y="6507831"/>
            <a:ext cx="4774052" cy="30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31;p31"/>
          <p:cNvPicPr preferRelativeResize="0"/>
          <p:nvPr/>
        </p:nvPicPr>
        <p:blipFill rotWithShape="1">
          <a:blip r:embed="rId2"/>
          <a:srcRect l="5089" t="2190" r="3980" b="2133"/>
          <a:stretch>
            <a:fillRect/>
          </a:stretch>
        </p:blipFill>
        <p:spPr>
          <a:xfrm>
            <a:off x="36558" y="0"/>
            <a:ext cx="1071806" cy="1125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1238250" y="5160010"/>
            <a:ext cx="557339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Sinh viên thực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hiện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Phan Thế Phong -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AT200345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5638800" y="299197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76201" y="1513830"/>
            <a:ext cx="1234440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Triển khai giao thức </a:t>
            </a:r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IPSEC</a:t>
            </a:r>
            <a:endParaRPr lang="vi-VN" altLang="en-US" sz="3600" b="1" dirty="0">
              <a:solidFill>
                <a:schemeClr val="dk1"/>
              </a:solidFill>
              <a:latin typeface="Constantia" panose="020306020503060303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1106182" y="2602390"/>
            <a:ext cx="25314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NỘI DUNG</a:t>
            </a:r>
            <a:endParaRPr lang="en-US" sz="3600" b="1">
              <a:solidFill>
                <a:srgbClr val="1D7C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54" name="Google Shape;154;p2"/>
          <p:cNvGrpSpPr/>
          <p:nvPr>
            <p:custDataLst>
              <p:tags r:id="rId1"/>
            </p:custDataLst>
          </p:nvPr>
        </p:nvGrpSpPr>
        <p:grpSpPr>
          <a:xfrm>
            <a:off x="3840888" y="1525715"/>
            <a:ext cx="7382614" cy="705485"/>
            <a:chOff x="5561568" y="2150659"/>
            <a:chExt cx="5563680" cy="708860"/>
          </a:xfrm>
        </p:grpSpPr>
        <p:sp>
          <p:nvSpPr>
            <p:cNvPr id="155" name="Google Shape;155;p2"/>
            <p:cNvSpPr txBox="1"/>
            <p:nvPr>
              <p:custDataLst>
                <p:tags r:id="rId2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Thiết lập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chung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6" name="Google Shape;156;p2"/>
            <p:cNvSpPr txBox="1"/>
            <p:nvPr>
              <p:custDataLst>
                <p:tags r:id="rId3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2" name="Google Shape;154;p2"/>
          <p:cNvGrpSpPr/>
          <p:nvPr>
            <p:custDataLst>
              <p:tags r:id="rId4"/>
            </p:custDataLst>
          </p:nvPr>
        </p:nvGrpSpPr>
        <p:grpSpPr>
          <a:xfrm>
            <a:off x="3840888" y="2623630"/>
            <a:ext cx="7382614" cy="705485"/>
            <a:chOff x="5561568" y="2150659"/>
            <a:chExt cx="5563680" cy="708860"/>
          </a:xfrm>
        </p:grpSpPr>
        <p:sp>
          <p:nvSpPr>
            <p:cNvPr id="3" name="Google Shape;155;p2"/>
            <p:cNvSpPr txBox="1"/>
            <p:nvPr>
              <p:custDataLst>
                <p:tags r:id="rId5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Triển khai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SSH 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Google Shape;156;p2"/>
            <p:cNvSpPr txBox="1"/>
            <p:nvPr>
              <p:custDataLst>
                <p:tags r:id="rId6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5" name="Google Shape;154;p2"/>
          <p:cNvGrpSpPr/>
          <p:nvPr>
            <p:custDataLst>
              <p:tags r:id="rId7"/>
            </p:custDataLst>
          </p:nvPr>
        </p:nvGrpSpPr>
        <p:grpSpPr>
          <a:xfrm>
            <a:off x="3787548" y="3721545"/>
            <a:ext cx="7382614" cy="705485"/>
            <a:chOff x="5561568" y="2150659"/>
            <a:chExt cx="5563680" cy="708860"/>
          </a:xfrm>
        </p:grpSpPr>
        <p:sp>
          <p:nvSpPr>
            <p:cNvPr id="6" name="Google Shape;155;p2"/>
            <p:cNvSpPr txBox="1"/>
            <p:nvPr>
              <p:custDataLst>
                <p:tags r:id="rId8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Sinh cặp khóa cho máy chủ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SSH 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" name="Google Shape;156;p2"/>
            <p:cNvSpPr txBox="1"/>
            <p:nvPr>
              <p:custDataLst>
                <p:tags r:id="rId9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8" name="Google Shape;154;p2"/>
          <p:cNvGrpSpPr/>
          <p:nvPr>
            <p:custDataLst>
              <p:tags r:id="rId10"/>
            </p:custDataLst>
          </p:nvPr>
        </p:nvGrpSpPr>
        <p:grpSpPr>
          <a:xfrm>
            <a:off x="3787548" y="4855655"/>
            <a:ext cx="7382614" cy="1056037"/>
            <a:chOff x="5561568" y="2150659"/>
            <a:chExt cx="5563680" cy="1061089"/>
          </a:xfrm>
        </p:grpSpPr>
        <p:sp>
          <p:nvSpPr>
            <p:cNvPr id="9" name="Google Shape;155;p2"/>
            <p:cNvSpPr txBox="1"/>
            <p:nvPr>
              <p:custDataLst>
                <p:tags r:id="rId11"/>
              </p:custDataLst>
            </p:nvPr>
          </p:nvSpPr>
          <p:spPr>
            <a:xfrm>
              <a:off x="6183957" y="2255329"/>
              <a:ext cx="4941291" cy="956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Triển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khai xác thực người dùng bằng mật mã khóa công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khai 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" name="Google Shape;156;p2"/>
            <p:cNvSpPr txBox="1"/>
            <p:nvPr>
              <p:custDataLst>
                <p:tags r:id="rId12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4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Thiết lập </a:t>
            </a:r>
            <a:r>
              <a:rPr lang="vi-VN" altLang="en-GB" sz="4800"/>
              <a:t>chung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Thiết lập </a:t>
            </a:r>
            <a:r>
              <a:rPr lang="vi-VN" altLang="en-GB">
                <a:sym typeface="+mn-ea"/>
              </a:rPr>
              <a:t>chung</a:t>
            </a:r>
            <a:endParaRPr lang="vi-VN" altLang="en-GB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50" y="2019935"/>
            <a:ext cx="9042400" cy="33407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287145" y="1350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Mô hình </a:t>
            </a:r>
            <a:r>
              <a:rPr lang="vi-VN" altLang="en-GB"/>
              <a:t>mạng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2. </a:t>
            </a:r>
            <a:r>
              <a:rPr lang="vi-VN" altLang="en-GB" sz="4800"/>
              <a:t>SSH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SSH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12190" y="1496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Cài đặt openssh-</a:t>
            </a:r>
            <a:r>
              <a:rPr lang="vi-VN" altLang="en-GB"/>
              <a:t>server</a:t>
            </a:r>
            <a:endParaRPr lang="vi-VN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1012190" y="2167255"/>
            <a:ext cx="3327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Kết nối SSH từ client tới server bằng user </a:t>
            </a:r>
            <a:r>
              <a:rPr lang="vi-VN" altLang="en-GB" u="heavy"/>
              <a:t>phong</a:t>
            </a:r>
            <a:endParaRPr lang="vi-VN" alt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r="16599" b="33167"/>
          <a:stretch>
            <a:fillRect/>
          </a:stretch>
        </p:blipFill>
        <p:spPr>
          <a:xfrm>
            <a:off x="4516755" y="1221105"/>
            <a:ext cx="7171690" cy="5115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SSH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8075" y="949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và phân tích gói tin trên </a:t>
            </a:r>
            <a:r>
              <a:rPr lang="vi-VN" altLang="en-GB"/>
              <a:t>wireshark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3182" r="552"/>
          <a:stretch>
            <a:fillRect/>
          </a:stretch>
        </p:blipFill>
        <p:spPr>
          <a:xfrm>
            <a:off x="94615" y="1318260"/>
            <a:ext cx="11828780" cy="22707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4615" y="3703955"/>
            <a:ext cx="117373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29 và 31 là 2 máy gửi phiên bản để kiểm tra tính tương thích trước khi đi </a:t>
            </a:r>
            <a:r>
              <a:rPr lang="vi-VN" altLang="en-GB"/>
              <a:t>tiếp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35, 37: hai máy gửi danh sách các thuật toán mà nó hỗ </a:t>
            </a:r>
            <a:r>
              <a:rPr lang="vi-VN" altLang="en-GB"/>
              <a:t>trợ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37: client </a:t>
            </a:r>
            <a:r>
              <a:rPr lang="vi-VN" altLang="en-GB"/>
              <a:t>gửi g^</a:t>
            </a:r>
            <a:r>
              <a:rPr lang="vi-VN" altLang="en-GB"/>
              <a:t>x 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39: server gửi lại g^y và chữ ký số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Gói 43: Client gửi New keys báo hiệu từ gói này sẽ mã hóa bằng mã hóa đối </a:t>
            </a:r>
            <a:r>
              <a:rPr lang="vi-VN" altLang="en-GB"/>
              <a:t>xứng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Các gói tin sau được mã hóa bằng khóa đã thỏa </a:t>
            </a:r>
            <a:r>
              <a:rPr lang="vi-VN" altLang="en-GB"/>
              <a:t>thuận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SSH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1864995"/>
            <a:ext cx="10763250" cy="43529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96620" y="1341120"/>
            <a:ext cx="10581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Gói tin Key Exchange gửi danh sách các thuật toán mà nó hỗ </a:t>
            </a:r>
            <a:r>
              <a:rPr lang="vi-VN" altLang="en-GB"/>
              <a:t>trợ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SSH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18870" y="9855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Gói Diffie-Hellman của Client gửi </a:t>
            </a:r>
            <a:r>
              <a:rPr lang="vi-VN" altLang="en-GB"/>
              <a:t>đi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70" y="1452880"/>
            <a:ext cx="9267825" cy="37433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36650" y="5445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DH client e: là g^</a:t>
            </a:r>
            <a:r>
              <a:rPr lang="vi-VN" altLang="en-GB"/>
              <a:t>x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SSH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74420" y="1234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Gói </a:t>
            </a:r>
            <a:r>
              <a:rPr lang="en-US" altLang="en-GB"/>
              <a:t>DH Key Exchange Reply</a:t>
            </a:r>
            <a:endParaRPr lang="en-US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b="31611"/>
          <a:stretch>
            <a:fillRect/>
          </a:stretch>
        </p:blipFill>
        <p:spPr>
          <a:xfrm>
            <a:off x="4871085" y="1341755"/>
            <a:ext cx="7015480" cy="46901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72745" y="186499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KEX host key: public key để giải mã chữ ký </a:t>
            </a:r>
            <a:r>
              <a:rPr lang="vi-VN" altLang="en-GB"/>
              <a:t>số</a:t>
            </a:r>
            <a:endParaRPr lang="vi-VN" altLang="en-GB"/>
          </a:p>
          <a:p>
            <a:r>
              <a:rPr lang="vi-VN" altLang="en-GB"/>
              <a:t>DH server f [...]: g^</a:t>
            </a:r>
            <a:r>
              <a:rPr lang="vi-VN" altLang="en-GB"/>
              <a:t>y</a:t>
            </a:r>
            <a:endParaRPr lang="vi-VN" altLang="en-GB"/>
          </a:p>
          <a:p>
            <a:r>
              <a:rPr lang="vi-VN" altLang="en-GB"/>
              <a:t>KEX host signature: chữ ký </a:t>
            </a:r>
            <a:r>
              <a:rPr lang="vi-VN" altLang="en-GB"/>
              <a:t>số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SSH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7810" y="1073150"/>
            <a:ext cx="6154420" cy="50095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6590" y="1678305"/>
            <a:ext cx="4383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Các gói tin sau thì dữ liệu truyền đi đã được mã </a:t>
            </a:r>
            <a:r>
              <a:rPr lang="vi-VN" altLang="en-GB"/>
              <a:t>hóa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vi-VN" altLang="en-US" sz="4800" dirty="0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Sinh cặp khóa cho máy chủ SSH</a:t>
            </a:r>
            <a:endParaRPr lang="vi-VN" altLang="en-GB" sz="4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Sinh cặp khóa cho máy chủ SSH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56640" y="1589405"/>
            <a:ext cx="5472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Xóa hoặc sao lưu các khóa cũ của hệ </a:t>
            </a:r>
            <a:r>
              <a:rPr lang="vi-VN" altLang="en-GB"/>
              <a:t>thống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2099945"/>
            <a:ext cx="2724150" cy="4381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56640" y="2771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Sinh khóa </a:t>
            </a:r>
            <a:r>
              <a:rPr lang="vi-VN" altLang="en-GB"/>
              <a:t>rsa</a:t>
            </a:r>
            <a:endParaRPr lang="vi-VN" alt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1640" t="1205" r="6460" b="6328"/>
          <a:stretch>
            <a:fillRect/>
          </a:stretch>
        </p:blipFill>
        <p:spPr>
          <a:xfrm>
            <a:off x="1154430" y="3139440"/>
            <a:ext cx="5374640" cy="311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altLang="en-GB" sz="480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vi-VN" altLang="en-US" sz="4800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 xác thực người dùng bằng mật mã khóa công khai </a:t>
            </a:r>
            <a:endParaRPr lang="vi-VN" altLang="en-GB" sz="4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08075" y="175260"/>
            <a:ext cx="11016615" cy="933450"/>
          </a:xfrm>
        </p:spPr>
        <p:txBody>
          <a:bodyPr/>
          <a:p>
            <a:r>
              <a:rPr lang="vi-VN" altLang="en-US" b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 xác thực người dùng bằng mật mã khóa công khai </a:t>
            </a:r>
            <a:endParaRPr lang="en-GB" altLang="en-US" b="0"/>
          </a:p>
        </p:txBody>
      </p:sp>
      <p:sp>
        <p:nvSpPr>
          <p:cNvPr id="4" name="Text Box 3"/>
          <p:cNvSpPr txBox="1"/>
          <p:nvPr/>
        </p:nvSpPr>
        <p:spPr>
          <a:xfrm>
            <a:off x="922655" y="1651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Tạo cặp khóa trên </a:t>
            </a:r>
            <a:r>
              <a:rPr lang="vi-VN" altLang="en-GB"/>
              <a:t>client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b="4531"/>
          <a:stretch>
            <a:fillRect/>
          </a:stretch>
        </p:blipFill>
        <p:spPr>
          <a:xfrm>
            <a:off x="4177030" y="1433830"/>
            <a:ext cx="7254240" cy="5003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08075" y="175260"/>
            <a:ext cx="11016615" cy="1057910"/>
          </a:xfrm>
        </p:spPr>
        <p:txBody>
          <a:bodyPr/>
          <a:p>
            <a:r>
              <a:rPr lang="vi-VN" altLang="en-US" b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 xác thực người dùng bằng mật mã khóa công khai </a:t>
            </a:r>
            <a:endParaRPr lang="en-GB" altLang="en-US" b="0"/>
          </a:p>
        </p:txBody>
      </p:sp>
      <p:sp>
        <p:nvSpPr>
          <p:cNvPr id="4" name="Text Box 3"/>
          <p:cNvSpPr txBox="1"/>
          <p:nvPr/>
        </p:nvSpPr>
        <p:spPr>
          <a:xfrm>
            <a:off x="1108075" y="1233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Đẩy Public Key sang </a:t>
            </a:r>
            <a:r>
              <a:rPr lang="vi-VN" altLang="en-GB"/>
              <a:t>Server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r="3968" b="17363"/>
          <a:stretch>
            <a:fillRect/>
          </a:stretch>
        </p:blipFill>
        <p:spPr>
          <a:xfrm>
            <a:off x="175895" y="1785620"/>
            <a:ext cx="11746230" cy="2223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08075" y="175260"/>
            <a:ext cx="11016615" cy="1075055"/>
          </a:xfrm>
        </p:spPr>
        <p:txBody>
          <a:bodyPr/>
          <a:p>
            <a:r>
              <a:rPr lang="vi-VN" altLang="en-US" b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 xác thực người dùng bằng mật mã khóa công khai </a:t>
            </a:r>
            <a:endParaRPr lang="en-GB" altLang="en-US" b="0"/>
          </a:p>
        </p:txBody>
      </p:sp>
      <p:sp>
        <p:nvSpPr>
          <p:cNvPr id="4" name="Text Box 3"/>
          <p:cNvSpPr txBox="1"/>
          <p:nvPr/>
        </p:nvSpPr>
        <p:spPr>
          <a:xfrm>
            <a:off x="723900" y="1432560"/>
            <a:ext cx="10477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mở file /etc/ssh/sshd_config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tắt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nhập bằng password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ể thử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ng nhập bằng cặp kh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 tạo 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1825" r="-315"/>
          <a:stretch>
            <a:fillRect/>
          </a:stretch>
        </p:blipFill>
        <p:spPr>
          <a:xfrm>
            <a:off x="723900" y="2077720"/>
            <a:ext cx="7374255" cy="4415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08075" y="175260"/>
            <a:ext cx="11016615" cy="919480"/>
          </a:xfrm>
        </p:spPr>
        <p:txBody>
          <a:bodyPr/>
          <a:p>
            <a:r>
              <a:rPr lang="vi-VN" altLang="en-US" b="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Triển khai xác thực người dùng bằng mật mã khóa công khai </a:t>
            </a:r>
            <a:endParaRPr lang="en-GB" altLang="en-US" b="0"/>
          </a:p>
        </p:txBody>
      </p:sp>
      <p:sp>
        <p:nvSpPr>
          <p:cNvPr id="4" name="Text Box 3"/>
          <p:cNvSpPr txBox="1"/>
          <p:nvPr/>
        </p:nvSpPr>
        <p:spPr>
          <a:xfrm>
            <a:off x="317500" y="1581785"/>
            <a:ext cx="4591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Kết nối ssh từ client tới server luôn mà không cần nhập </a:t>
            </a:r>
            <a:r>
              <a:rPr lang="vi-VN" altLang="en-GB"/>
              <a:t>password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b="5236"/>
          <a:stretch>
            <a:fillRect/>
          </a:stretch>
        </p:blipFill>
        <p:spPr>
          <a:xfrm>
            <a:off x="4998085" y="1157605"/>
            <a:ext cx="6970395" cy="5610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2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3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4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5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6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7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8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9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10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11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ags/tag12.xml><?xml version="1.0" encoding="utf-8"?>
<p:tagLst xmlns:p="http://schemas.openxmlformats.org/presentationml/2006/main">
  <p:tag name="KSO_WM_DIAGRAM_VIRTUALLY_FRAME" val="{&quot;height&quot;:389.20251805716214,&quot;left&quot;:293.432125984252,&quot;top&quot;:76.28503937007875,&quot;width&quot;:664.816692913385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1633</Words>
  <Application>WPS Presentation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Arial</vt:lpstr>
      <vt:lpstr>Times New Roman</vt:lpstr>
      <vt:lpstr>Constantia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Thiết lập chung</vt:lpstr>
      <vt:lpstr>PowerPoint 演示文稿</vt:lpstr>
      <vt:lpstr>SSH</vt:lpstr>
      <vt:lpstr>SSH</vt:lpstr>
      <vt:lpstr>SSH</vt:lpstr>
      <vt:lpstr>SSH</vt:lpstr>
      <vt:lpstr>SSH</vt:lpstr>
      <vt:lpstr>SSH</vt:lpstr>
      <vt:lpstr>PowerPoint 演示文稿</vt:lpstr>
      <vt:lpstr>Sinh cặp khóa cho máy chủ SSH</vt:lpstr>
      <vt:lpstr>PowerPoint 演示文稿</vt:lpstr>
      <vt:lpstr>Triển xác thực người dùng bằng mật mã khóa công khai</vt:lpstr>
      <vt:lpstr>Triển xác thực người dùng bằng mật mã khóa công khai</vt:lpstr>
      <vt:lpstr>Triển xác thực người dùng bằng mật mã khóa công khai</vt:lpstr>
      <vt:lpstr>Triển xác thực người dùng bằng mật mã khóa công khai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Phong Phan Thế</cp:lastModifiedBy>
  <cp:revision>5</cp:revision>
  <dcterms:created xsi:type="dcterms:W3CDTF">2025-07-23T00:59:00Z</dcterms:created>
  <dcterms:modified xsi:type="dcterms:W3CDTF">2026-06-12T15:53:23Z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6B7267AAB64A45C3A3C3F2C22106B627_11</vt:lpwstr>
  </property>
  <property fmtid="{D5CDD505-2E9C-101B-9397-08002B2CF9AE}" pid="3" name="KSOProductBuildVer">
    <vt:lpwstr>2057-12.2.0.23202</vt:lpwstr>
  </property>
</Properties>
</file>