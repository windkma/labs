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7" r:id="rId3"/>
  </p:sldMasterIdLst>
  <p:notesMasterIdLst>
    <p:notesMasterId r:id="rId5"/>
  </p:notesMasterIdLst>
  <p:sldIdLst>
    <p:sldId id="256" r:id="rId4"/>
    <p:sldId id="257" r:id="rId6"/>
    <p:sldId id="258" r:id="rId7"/>
    <p:sldId id="298" r:id="rId8"/>
    <p:sldId id="259" r:id="rId9"/>
    <p:sldId id="299" r:id="rId10"/>
    <p:sldId id="300" r:id="rId11"/>
    <p:sldId id="301" r:id="rId12"/>
    <p:sldId id="302" r:id="rId13"/>
    <p:sldId id="303" r:id="rId14"/>
    <p:sldId id="304" r:id="rId15"/>
    <p:sldId id="306" r:id="rId16"/>
    <p:sldId id="310" r:id="rId17"/>
    <p:sldId id="307" r:id="rId18"/>
    <p:sldId id="308" r:id="rId19"/>
    <p:sldId id="311" r:id="rId20"/>
    <p:sldId id="312" r:id="rId21"/>
    <p:sldId id="313" r:id="rId22"/>
  </p:sldIdLst>
  <p:sldSz cx="12192000" cy="6858000"/>
  <p:notesSz cx="6858000" cy="9144000"/>
  <p:embeddedFontLst>
    <p:embeddedFont>
      <p:font typeface="Calibri" panose="020F0502020204030204"/>
      <p:regular r:id="rId26"/>
      <p:bold r:id="rId27"/>
      <p:italic r:id="rId28"/>
      <p:boldItalic r:id="rId29"/>
    </p:embeddedFont>
    <p:embeddedFont>
      <p:font typeface="Constantia" panose="02030602050306030303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font" Target="fonts/font8.fntdata"/><Relationship Id="rId32" Type="http://schemas.openxmlformats.org/officeDocument/2006/relationships/font" Target="fonts/font7.fntdata"/><Relationship Id="rId31" Type="http://schemas.openxmlformats.org/officeDocument/2006/relationships/font" Target="fonts/font6.fntdata"/><Relationship Id="rId30" Type="http://schemas.openxmlformats.org/officeDocument/2006/relationships/font" Target="fonts/font5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4.fntdata"/><Relationship Id="rId28" Type="http://schemas.openxmlformats.org/officeDocument/2006/relationships/font" Target="fonts/font3.fntdata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1">
  <p:cSld name="Slide 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9"/>
          <p:cNvPicPr preferRelativeResize="0"/>
          <p:nvPr/>
        </p:nvPicPr>
        <p:blipFill rotWithShape="1">
          <a:blip r:embed="rId2"/>
          <a:srcRect b="15749"/>
          <a:stretch>
            <a:fillRect/>
          </a:stretch>
        </p:blipFill>
        <p:spPr>
          <a:xfrm>
            <a:off x="7042172" y="2937164"/>
            <a:ext cx="5149827" cy="39208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31199" y="347825"/>
            <a:ext cx="2828693" cy="4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/>
        </p:nvSpPr>
        <p:spPr>
          <a:xfrm>
            <a:off x="42393" y="6456315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Google Shape;17;p29"/>
          <p:cNvSpPr txBox="1"/>
          <p:nvPr/>
        </p:nvSpPr>
        <p:spPr>
          <a:xfrm>
            <a:off x="4782064" y="6530109"/>
            <a:ext cx="7367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 June 2026 | Page </a:t>
            </a:r>
            <a:fld id="{00000000-1234-1234-1234-123412341234}" type="slidenum">
              <a:rPr lang="en-US" sz="1400" b="0" i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" name="Google Shape;18;p29"/>
          <p:cNvPicPr preferRelativeResize="0"/>
          <p:nvPr/>
        </p:nvPicPr>
        <p:blipFill rotWithShape="1">
          <a:blip r:embed="rId4"/>
          <a:srcRect l="8202" t="3636" r="9277" b="4781"/>
          <a:stretch>
            <a:fillRect/>
          </a:stretch>
        </p:blipFill>
        <p:spPr>
          <a:xfrm>
            <a:off x="11244125" y="62234"/>
            <a:ext cx="824168" cy="91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2">
  <p:cSld name="Slide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30"/>
          <p:cNvGrpSpPr/>
          <p:nvPr/>
        </p:nvGrpSpPr>
        <p:grpSpPr>
          <a:xfrm>
            <a:off x="8256539" y="30869"/>
            <a:ext cx="3846759" cy="1080603"/>
            <a:chOff x="8308168" y="-57704"/>
            <a:chExt cx="3846759" cy="1080603"/>
          </a:xfrm>
        </p:grpSpPr>
        <p:pic>
          <p:nvPicPr>
            <p:cNvPr id="22" name="Google Shape;22;p30"/>
            <p:cNvPicPr preferRelativeResize="0"/>
            <p:nvPr/>
          </p:nvPicPr>
          <p:blipFill rotWithShape="1">
            <a:blip r:embed="rId3"/>
            <a:srcRect l="5460" r="6685"/>
            <a:stretch>
              <a:fillRect/>
            </a:stretch>
          </p:blipFill>
          <p:spPr>
            <a:xfrm>
              <a:off x="11203582" y="-57704"/>
              <a:ext cx="951345" cy="1080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0"/>
          <p:cNvSpPr txBox="1"/>
          <p:nvPr/>
        </p:nvSpPr>
        <p:spPr>
          <a:xfrm>
            <a:off x="0" y="6530109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Calibri" panose="020F0502020204030204"/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30"/>
          <p:cNvSpPr txBox="1"/>
          <p:nvPr/>
        </p:nvSpPr>
        <p:spPr>
          <a:xfrm>
            <a:off x="0" y="6530109"/>
            <a:ext cx="7451124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">
  <p:cSld name="Slide 5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>
            <a:spLocks noGrp="1"/>
          </p:cNvSpPr>
          <p:nvPr>
            <p:ph type="pic" idx="2"/>
          </p:nvPr>
        </p:nvSpPr>
        <p:spPr>
          <a:xfrm>
            <a:off x="1600201" y="2085976"/>
            <a:ext cx="3971925" cy="21621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3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" name="Google Shape;29;p3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30" name="Google Shape;30;p31"/>
          <p:cNvSpPr txBox="1"/>
          <p:nvPr/>
        </p:nvSpPr>
        <p:spPr>
          <a:xfrm>
            <a:off x="42392" y="6507831"/>
            <a:ext cx="4774052" cy="30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 dirty="0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1" name="Google Shape;31;p31"/>
          <p:cNvPicPr preferRelativeResize="0"/>
          <p:nvPr/>
        </p:nvPicPr>
        <p:blipFill rotWithShape="1">
          <a:blip r:embed="rId2"/>
          <a:srcRect l="5089" t="2190" r="3980" b="2133"/>
          <a:stretch>
            <a:fillRect/>
          </a:stretch>
        </p:blipFill>
        <p:spPr>
          <a:xfrm>
            <a:off x="36558" y="0"/>
            <a:ext cx="1071806" cy="1125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2"/>
          <p:cNvPicPr preferRelativeResize="0"/>
          <p:nvPr/>
        </p:nvPicPr>
        <p:blipFill rotWithShape="1">
          <a:blip r:embed="rId2"/>
          <a:srcRect l="5480" t="4220" r="8799" b="5570"/>
          <a:stretch>
            <a:fillRect/>
          </a:stretch>
        </p:blipFill>
        <p:spPr>
          <a:xfrm>
            <a:off x="116563" y="0"/>
            <a:ext cx="1006764" cy="104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3">
  <p:cSld name="Slide 3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096000" y="757925"/>
            <a:ext cx="6096000" cy="555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oogle Shape;38;p34"/>
          <p:cNvGrpSpPr/>
          <p:nvPr/>
        </p:nvGrpSpPr>
        <p:grpSpPr>
          <a:xfrm>
            <a:off x="8265776" y="42392"/>
            <a:ext cx="3883832" cy="965199"/>
            <a:chOff x="8308168" y="0"/>
            <a:chExt cx="3883832" cy="965199"/>
          </a:xfrm>
        </p:grpSpPr>
        <p:pic>
          <p:nvPicPr>
            <p:cNvPr id="39" name="Google Shape;39;p3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1185328" y="0"/>
              <a:ext cx="1006672" cy="965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34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34"/>
          <p:cNvSpPr txBox="1"/>
          <p:nvPr/>
        </p:nvSpPr>
        <p:spPr>
          <a:xfrm>
            <a:off x="42392" y="6507831"/>
            <a:ext cx="12192000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2" name="Google Shape;42;p34"/>
          <p:cNvSpPr txBox="1"/>
          <p:nvPr/>
        </p:nvSpPr>
        <p:spPr>
          <a:xfrm>
            <a:off x="4831492" y="6530109"/>
            <a:ext cx="7318116" cy="30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">
  <p:cSld name="Slide 4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 txBox="1">
            <a:spLocks noGrp="1"/>
          </p:cNvSpPr>
          <p:nvPr>
            <p:ph type="body" idx="1"/>
          </p:nvPr>
        </p:nvSpPr>
        <p:spPr>
          <a:xfrm>
            <a:off x="1117600" y="525352"/>
            <a:ext cx="11074400" cy="5351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Noto Sans Symbols"/>
              <a:buChar char="❖"/>
              <a:defRPr sz="3200" b="0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❑"/>
              <a:defRPr sz="2800" b="0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20204"/>
              <a:buChar char="■"/>
              <a:defRPr sz="2400" b="0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 panose="020B0604020202020204"/>
              <a:buChar char="●"/>
              <a:defRPr sz="1800" b="0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●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213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○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2135"/>
              </a:spcBef>
              <a:spcAft>
                <a:spcPts val="2135"/>
              </a:spcAft>
              <a:buClr>
                <a:schemeClr val="dk1"/>
              </a:buClr>
              <a:buSzPts val="1400"/>
              <a:buFont typeface="Arial" panose="020B0604020202020204"/>
              <a:buChar char="■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5" name="Google Shape;45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" name="Google Shape;46;p35"/>
          <p:cNvSpPr txBox="1"/>
          <p:nvPr/>
        </p:nvSpPr>
        <p:spPr>
          <a:xfrm>
            <a:off x="42392" y="6507831"/>
            <a:ext cx="477405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Bộ môn Công nghệ Blockchain - Học viện Kỹ thuật Mật mã</a:t>
            </a:r>
            <a:endParaRPr lang="en-US"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">
  <p:cSld name="Slide 6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>
            <a:spLocks noGrp="1"/>
          </p:cNvSpPr>
          <p:nvPr>
            <p:ph type="pic" idx="2"/>
          </p:nvPr>
        </p:nvSpPr>
        <p:spPr>
          <a:xfrm>
            <a:off x="6305550" y="1936268"/>
            <a:ext cx="2294499" cy="1622543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36"/>
          <p:cNvSpPr>
            <a:spLocks noGrp="1"/>
          </p:cNvSpPr>
          <p:nvPr>
            <p:ph type="pic" idx="3"/>
          </p:nvPr>
        </p:nvSpPr>
        <p:spPr>
          <a:xfrm>
            <a:off x="8802126" y="1936268"/>
            <a:ext cx="2294499" cy="1622543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36"/>
          <p:cNvSpPr>
            <a:spLocks noGrp="1"/>
          </p:cNvSpPr>
          <p:nvPr>
            <p:ph type="pic" idx="4"/>
          </p:nvPr>
        </p:nvSpPr>
        <p:spPr>
          <a:xfrm>
            <a:off x="8802126" y="3797182"/>
            <a:ext cx="2294499" cy="1622543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36"/>
          <p:cNvSpPr>
            <a:spLocks noGrp="1"/>
          </p:cNvSpPr>
          <p:nvPr>
            <p:ph type="pic" idx="5"/>
          </p:nvPr>
        </p:nvSpPr>
        <p:spPr>
          <a:xfrm>
            <a:off x="6305550" y="3797182"/>
            <a:ext cx="2294499" cy="1622543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53" name="Google Shape;53;p36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4" name="Google Shape;54;p36"/>
          <p:cNvSpPr txBox="1"/>
          <p:nvPr/>
        </p:nvSpPr>
        <p:spPr>
          <a:xfrm>
            <a:off x="42392" y="6507831"/>
            <a:ext cx="4774052" cy="30543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">
  <p:cSld name="Slide 8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>
            <a:spLocks noGrp="1"/>
          </p:cNvSpPr>
          <p:nvPr>
            <p:ph type="pic" idx="2"/>
          </p:nvPr>
        </p:nvSpPr>
        <p:spPr>
          <a:xfrm>
            <a:off x="1698623" y="2746373"/>
            <a:ext cx="2187580" cy="218758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37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4400" b="1" i="0" u="none" strike="noStrike" cap="none">
                <a:solidFill>
                  <a:srgbClr val="59595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  <a:defRPr sz="1800">
                <a:solidFill>
                  <a:srgbClr val="4E6F9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8" name="Google Shape;58;p37"/>
          <p:cNvSpPr txBox="1"/>
          <p:nvPr/>
        </p:nvSpPr>
        <p:spPr>
          <a:xfrm>
            <a:off x="42392" y="6507831"/>
            <a:ext cx="4774052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Học phần kỹ thuật lập trình - Học viện Kỹ thuật Mật mã</a:t>
            </a: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0" name="Google Shape;80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93" name="Google Shape;93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95" name="Google Shape;95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1" name="Google Shape;111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2" name="Google Shape;1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9" name="Google Shape;119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8"/>
          <p:cNvSpPr txBox="1"/>
          <p:nvPr/>
        </p:nvSpPr>
        <p:spPr>
          <a:xfrm>
            <a:off x="0" y="6530109"/>
            <a:ext cx="1219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Bộ môn Chứng thực điện tử - Học viện Kỹ thuật Mật mã</a:t>
            </a:r>
            <a:endParaRPr sz="1400" b="0" i="1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10;p28"/>
          <p:cNvSpPr txBox="1"/>
          <p:nvPr/>
        </p:nvSpPr>
        <p:spPr>
          <a:xfrm>
            <a:off x="4782064" y="6530109"/>
            <a:ext cx="736754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 April 2026 | Page </a:t>
            </a:r>
            <a:fld id="{00000000-1234-1234-1234-123412341234}" type="slidenum">
              <a:rPr lang="en-US" sz="1400" b="0" i="1" u="none">
                <a:solidFill>
                  <a:srgbClr val="C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00" b="0" i="1" u="none">
              <a:solidFill>
                <a:srgbClr val="C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28"/>
          <p:cNvSpPr/>
          <p:nvPr/>
        </p:nvSpPr>
        <p:spPr>
          <a:xfrm>
            <a:off x="692727" y="907631"/>
            <a:ext cx="11499273" cy="4571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" name="Google Shape;12;p28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101600" y="64655"/>
            <a:ext cx="1006672" cy="9651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2" name="Google Shape;62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3" name="Google Shape;6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64" name="Google Shape;6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1238250" y="5160010"/>
            <a:ext cx="5573395" cy="97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Sinh viên thực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hiện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524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Phan Thế Phong - </a:t>
            </a:r>
            <a:r>
              <a:rPr lang="vi-VN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AT200345</a:t>
            </a:r>
            <a:endParaRPr lang="vi-VN"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5638800" y="2991970"/>
            <a:ext cx="914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76201" y="1513830"/>
            <a:ext cx="12344401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altLang="en-US" sz="3200" b="1" dirty="0">
                <a:solidFill>
                  <a:schemeClr val="dk1"/>
                </a:solidFill>
                <a:latin typeface="Constantia" panose="02030602050306030303"/>
              </a:rPr>
              <a:t>Triển khai giao thức PAP và </a:t>
            </a:r>
            <a:r>
              <a:rPr lang="vi-VN" altLang="en-US" sz="3200" b="1" dirty="0">
                <a:solidFill>
                  <a:schemeClr val="dk1"/>
                </a:solidFill>
                <a:latin typeface="Constantia" panose="02030602050306030303"/>
              </a:rPr>
              <a:t>CHAP</a:t>
            </a:r>
            <a:endParaRPr lang="vi-VN" altLang="en-US" sz="3200" b="1" dirty="0">
              <a:solidFill>
                <a:schemeClr val="dk1"/>
              </a:solidFill>
              <a:latin typeface="Constantia" panose="020306020503060303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/>
        </p:nvSpPr>
        <p:spPr>
          <a:xfrm>
            <a:off x="1106182" y="2602390"/>
            <a:ext cx="25314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NỘI DUNG</a:t>
            </a:r>
            <a:endParaRPr lang="en-US" sz="3600" b="1">
              <a:solidFill>
                <a:srgbClr val="1D7CB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51" name="Google Shape;151;p2"/>
          <p:cNvGrpSpPr/>
          <p:nvPr>
            <p:custDataLst>
              <p:tags r:id="rId1"/>
            </p:custDataLst>
          </p:nvPr>
        </p:nvGrpSpPr>
        <p:grpSpPr>
          <a:xfrm>
            <a:off x="3971333" y="2141516"/>
            <a:ext cx="8109527" cy="707886"/>
            <a:chOff x="5487735" y="1643444"/>
            <a:chExt cx="6588757" cy="711272"/>
          </a:xfrm>
        </p:grpSpPr>
        <p:sp>
          <p:nvSpPr>
            <p:cNvPr id="152" name="Google Shape;152;p2"/>
            <p:cNvSpPr txBox="1"/>
            <p:nvPr>
              <p:custDataLst>
                <p:tags r:id="rId2"/>
              </p:custDataLst>
            </p:nvPr>
          </p:nvSpPr>
          <p:spPr>
            <a:xfrm>
              <a:off x="6145993" y="1713738"/>
              <a:ext cx="5930499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sz="2800" b="1" dirty="0">
                  <a:solidFill>
                    <a:srgbClr val="ED7D3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Triển khai giao thức PAP 2 </a:t>
              </a:r>
              <a:r>
                <a:rPr lang="vi-VN" sz="2800" b="1" dirty="0">
                  <a:solidFill>
                    <a:srgbClr val="ED7D3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chiều</a:t>
              </a:r>
              <a:endParaRPr lang="vi-VN" sz="2800" b="1" dirty="0">
                <a:solidFill>
                  <a:srgbClr val="ED7D3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3" name="Google Shape;153;p2"/>
            <p:cNvSpPr txBox="1"/>
            <p:nvPr>
              <p:custDataLst>
                <p:tags r:id="rId3"/>
              </p:custDataLst>
            </p:nvPr>
          </p:nvSpPr>
          <p:spPr>
            <a:xfrm>
              <a:off x="5487735" y="1643444"/>
              <a:ext cx="670993" cy="7112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01.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154" name="Google Shape;154;p2"/>
          <p:cNvGrpSpPr/>
          <p:nvPr>
            <p:custDataLst>
              <p:tags r:id="rId4"/>
            </p:custDataLst>
          </p:nvPr>
        </p:nvGrpSpPr>
        <p:grpSpPr>
          <a:xfrm>
            <a:off x="4012973" y="3433255"/>
            <a:ext cx="7382614" cy="707886"/>
            <a:chOff x="5561568" y="2150659"/>
            <a:chExt cx="5563680" cy="711272"/>
          </a:xfrm>
        </p:grpSpPr>
        <p:sp>
          <p:nvSpPr>
            <p:cNvPr id="155" name="Google Shape;155;p2"/>
            <p:cNvSpPr txBox="1"/>
            <p:nvPr>
              <p:custDataLst>
                <p:tags r:id="rId5"/>
              </p:custDataLst>
            </p:nvPr>
          </p:nvSpPr>
          <p:spPr>
            <a:xfrm>
              <a:off x="6183957" y="2255329"/>
              <a:ext cx="4941291" cy="5231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vi-VN" altLang="en-US" sz="2800" b="1" dirty="0">
                  <a:solidFill>
                    <a:srgbClr val="ED7D3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Triển khai giao thức CHAP 2 </a:t>
              </a:r>
              <a:r>
                <a:rPr lang="vi-VN" altLang="en-US" sz="2800" b="1" dirty="0">
                  <a:solidFill>
                    <a:srgbClr val="ED7D31"/>
                  </a:solidFill>
                  <a:latin typeface="Times New Roman" panose="02020603050405020304"/>
                  <a:cs typeface="Times New Roman" panose="02020603050405020304"/>
                  <a:sym typeface="Times New Roman" panose="02020603050405020304"/>
                </a:rPr>
                <a:t>chiều</a:t>
              </a:r>
              <a:endParaRPr lang="vi-VN" altLang="en-US" sz="2800" b="1" dirty="0">
                <a:solidFill>
                  <a:srgbClr val="ED7D3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6" name="Google Shape;156;p2"/>
            <p:cNvSpPr txBox="1"/>
            <p:nvPr>
              <p:custDataLst>
                <p:tags r:id="rId6"/>
              </p:custDataLst>
            </p:nvPr>
          </p:nvSpPr>
          <p:spPr>
            <a:xfrm>
              <a:off x="5561568" y="2150659"/>
              <a:ext cx="622389" cy="7112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1">
                  <a:solidFill>
                    <a:srgbClr val="1D7CB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02.</a:t>
              </a: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157" name="Google Shape;157;p2"/>
          <p:cNvGrpSpPr/>
          <p:nvPr>
            <p:custDataLst>
              <p:tags r:id="rId7"/>
            </p:custDataLst>
          </p:nvPr>
        </p:nvGrpSpPr>
        <p:grpSpPr>
          <a:xfrm>
            <a:off x="4012973" y="4299149"/>
            <a:ext cx="6921505" cy="705486"/>
            <a:chOff x="5487735" y="1732556"/>
            <a:chExt cx="5830086" cy="208101"/>
          </a:xfrm>
        </p:grpSpPr>
        <p:sp>
          <p:nvSpPr>
            <p:cNvPr id="158" name="Google Shape;158;p2"/>
            <p:cNvSpPr txBox="1"/>
            <p:nvPr>
              <p:custDataLst>
                <p:tags r:id="rId8"/>
              </p:custDataLst>
            </p:nvPr>
          </p:nvSpPr>
          <p:spPr>
            <a:xfrm>
              <a:off x="6183375" y="1762992"/>
              <a:ext cx="5134446" cy="153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1" dirty="0">
                <a:solidFill>
                  <a:srgbClr val="ED7D3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59" name="Google Shape;159;p2"/>
            <p:cNvSpPr txBox="1"/>
            <p:nvPr>
              <p:custDataLst>
                <p:tags r:id="rId9"/>
              </p:custDataLst>
            </p:nvPr>
          </p:nvSpPr>
          <p:spPr>
            <a:xfrm>
              <a:off x="5487735" y="1732556"/>
              <a:ext cx="695640" cy="2081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4000" b="1" i="1">
                <a:solidFill>
                  <a:srgbClr val="1D7CB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/>
          <p:nvPr/>
        </p:nvSpPr>
        <p:spPr>
          <a:xfrm>
            <a:off x="1078480" y="1163636"/>
            <a:ext cx="10591006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4800" b="1" dirty="0">
                <a:solidFill>
                  <a:srgbClr val="ED7D3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Chuẩn </a:t>
            </a:r>
            <a:r>
              <a:rPr lang="vi-VN" sz="4800" b="1" dirty="0">
                <a:solidFill>
                  <a:srgbClr val="ED7D3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bị</a:t>
            </a:r>
            <a:endParaRPr lang="vi-VN" sz="4800" b="1" dirty="0">
              <a:solidFill>
                <a:srgbClr val="ED7D3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965325" y="2158365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400"/>
              <a:t>Công cụ sử dụng:</a:t>
            </a:r>
            <a:endParaRPr lang="vi-VN" altLang="en-GB" sz="2400"/>
          </a:p>
          <a:p>
            <a:pPr indent="457200"/>
            <a:r>
              <a:rPr lang="vi-VN" altLang="en-GB" sz="2000"/>
              <a:t>GNS3</a:t>
            </a:r>
            <a:endParaRPr lang="vi-VN" altLang="en-GB" sz="2000"/>
          </a:p>
          <a:p>
            <a:pPr indent="457200"/>
            <a:r>
              <a:rPr lang="vi-VN" altLang="en-GB" sz="2000"/>
              <a:t>Wireshark</a:t>
            </a:r>
            <a:endParaRPr lang="vi-VN" altLang="en-GB" sz="2000"/>
          </a:p>
        </p:txBody>
      </p:sp>
      <p:sp>
        <p:nvSpPr>
          <p:cNvPr id="3" name="Text Box 2"/>
          <p:cNvSpPr txBox="1"/>
          <p:nvPr/>
        </p:nvSpPr>
        <p:spPr>
          <a:xfrm>
            <a:off x="1657350" y="335851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400"/>
              <a:t>Mô hình mạng</a:t>
            </a:r>
            <a:endParaRPr lang="vi-VN" altLang="en-GB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3757295"/>
            <a:ext cx="6296025" cy="1825625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70940" y="1512570"/>
            <a:ext cx="10218420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1. Triển khai giao thức PAP 2 chiều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>
            <a:spLocks noGrp="1"/>
          </p:cNvSpPr>
          <p:nvPr>
            <p:ph type="title"/>
          </p:nvPr>
        </p:nvSpPr>
        <p:spPr>
          <a:xfrm>
            <a:off x="1108363" y="175484"/>
            <a:ext cx="11203709" cy="71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Arial" panose="020B0604020202020204"/>
              <a:buNone/>
            </a:pPr>
            <a:r>
              <a:rPr lang="vi-VN" altLang="en-GB" sz="2800">
                <a:sym typeface="+mn-ea"/>
              </a:rPr>
              <a:t>Triển khai giao thức PAP 2 chiều</a:t>
            </a:r>
            <a:endParaRPr lang="en-US" sz="280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7722605" y="1732380"/>
            <a:ext cx="4218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742950" y="1160145"/>
            <a:ext cx="10705465" cy="108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 11"/>
          <p:cNvSpPr/>
          <p:nvPr/>
        </p:nvSpPr>
        <p:spPr>
          <a:xfrm>
            <a:off x="8117840" y="2323259"/>
            <a:ext cx="2296160" cy="5943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-120"/>
              </a:rPr>
              <a:t>NGUYÊN NHÂN</a:t>
            </a:r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962025" y="1885315"/>
            <a:ext cx="6417310" cy="586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2800"/>
              <a:t>Bật encapsulation PPP cho cả 2 máy</a:t>
            </a:r>
            <a:endParaRPr lang="vi-VN" altLang="en-GB" sz="2800"/>
          </a:p>
        </p:txBody>
      </p:sp>
      <p:pic>
        <p:nvPicPr>
          <p:cNvPr id="9" name="Picture 8"/>
          <p:cNvPicPr/>
          <p:nvPr/>
        </p:nvPicPr>
        <p:blipFill>
          <a:blip r:embed="rId1"/>
          <a:stretch>
            <a:fillRect/>
          </a:stretch>
        </p:blipFill>
        <p:spPr>
          <a:xfrm>
            <a:off x="852805" y="2595880"/>
            <a:ext cx="10487025" cy="26555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Triển khai giao thức PAP 2 chiều</a:t>
            </a:r>
            <a:endParaRPr lang="en-GB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882650" y="395478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vi-VN" altLang="en-GB" sz="32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9903" r="2272" b="6702"/>
          <a:stretch>
            <a:fillRect/>
          </a:stretch>
        </p:blipFill>
        <p:spPr>
          <a:xfrm>
            <a:off x="407035" y="3309620"/>
            <a:ext cx="11609705" cy="166687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07035" y="1770380"/>
            <a:ext cx="107327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800">
                <a:sym typeface="+mn-ea"/>
              </a:rPr>
              <a:t>Bật giao thức xác thực PAP và tạo tài khoản cục bộ trên PTP1 để xác thực PTP2 </a:t>
            </a:r>
            <a:endParaRPr lang="vi-VN" altLang="en-GB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Triển khai giao thức PAP 2 chiều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86105" y="1531620"/>
            <a:ext cx="101879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800"/>
              <a:t>Khai báo tài khoản gửi đi trên PTP2</a:t>
            </a:r>
            <a:endParaRPr lang="vi-VN" altLang="en-GB" sz="28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" y="2572385"/>
            <a:ext cx="11231880" cy="1712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Triển khai giao thức PAP 2 chiều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64210" y="1173480"/>
            <a:ext cx="9693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800"/>
              <a:t>Bật debug và tắt interface đi bật lại để kiểm tra xác thực</a:t>
            </a:r>
            <a:endParaRPr lang="vi-VN" altLang="en-GB" sz="2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rcRect t="15884" r="25246" b="10187"/>
          <a:stretch>
            <a:fillRect/>
          </a:stretch>
        </p:blipFill>
        <p:spPr>
          <a:xfrm>
            <a:off x="763270" y="1695450"/>
            <a:ext cx="9382125" cy="4785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Triển khai giao thức PAP 2 chiều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5145" y="135255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800"/>
              <a:t>Tương tự với PTP2</a:t>
            </a:r>
            <a:endParaRPr lang="vi-VN" altLang="en-GB" sz="28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rcRect r="4868"/>
          <a:stretch>
            <a:fillRect/>
          </a:stretch>
        </p:blipFill>
        <p:spPr>
          <a:xfrm>
            <a:off x="525145" y="2009140"/>
            <a:ext cx="11179175" cy="15398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 r="42737" b="93726"/>
          <a:stretch>
            <a:fillRect/>
          </a:stretch>
        </p:blipFill>
        <p:spPr>
          <a:xfrm>
            <a:off x="525145" y="3848735"/>
            <a:ext cx="8142605" cy="4229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Triển khai giao thức PAP 2 chiều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36245" y="1212850"/>
            <a:ext cx="9087485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2800"/>
              <a:t>Bắt và phân tích gói tin trên Wireshark</a:t>
            </a:r>
            <a:endParaRPr lang="vi-VN" altLang="en-GB" sz="28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090" y="2426970"/>
            <a:ext cx="11598910" cy="78359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436245" y="3895090"/>
            <a:ext cx="10854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400"/>
              <a:t>Gói 12 gửi thông tin danh tính từ PTP2 tới PTP1 với username và password</a:t>
            </a:r>
            <a:endParaRPr lang="vi-VN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400">
                <a:sym typeface="+mn-ea"/>
              </a:rPr>
              <a:t>Gói 13 gửi từ thông tin danh tính từ PTP1 tới PTP2</a:t>
            </a:r>
            <a:endParaRPr lang="vi-VN" altLang="en-GB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400"/>
              <a:t>Gói 14 và 15 là gói tin xác nhận</a:t>
            </a:r>
            <a:endParaRPr lang="vi-VN" altLang="en-GB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Triển khai giao thức PAP 2 chiều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1130935" y="1193800"/>
            <a:ext cx="80149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800"/>
              <a:t>Phân tích gói tin xác thực</a:t>
            </a:r>
            <a:endParaRPr lang="vi-VN" altLang="en-GB" sz="2800"/>
          </a:p>
        </p:txBody>
      </p:sp>
      <p:sp>
        <p:nvSpPr>
          <p:cNvPr id="6" name="Text Box 5"/>
          <p:cNvSpPr txBox="1"/>
          <p:nvPr/>
        </p:nvSpPr>
        <p:spPr>
          <a:xfrm>
            <a:off x="1130935" y="5155565"/>
            <a:ext cx="70021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Protocol C023 là giao thức </a:t>
            </a:r>
            <a:r>
              <a:rPr lang="vi-VN" altLang="en-GB" sz="2000"/>
              <a:t>PAP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Code (1): Authenticate-Request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Peer-ID: là router yêu cầu xác </a:t>
            </a:r>
            <a:r>
              <a:rPr lang="vi-VN" altLang="en-GB" sz="2000"/>
              <a:t>thực PTP2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Password: hiện bản rõ</a:t>
            </a:r>
            <a:endParaRPr lang="vi-VN" altLang="en-GB" sz="20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1715770"/>
            <a:ext cx="7288530" cy="2969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Triển khai giao thức PAP 2 chiều</a:t>
            </a:r>
            <a:endParaRPr lang="en-US" altLang="en-GB"/>
          </a:p>
        </p:txBody>
      </p:sp>
      <p:sp>
        <p:nvSpPr>
          <p:cNvPr id="4" name="Text Box 3"/>
          <p:cNvSpPr txBox="1"/>
          <p:nvPr/>
        </p:nvSpPr>
        <p:spPr>
          <a:xfrm>
            <a:off x="1108075" y="1264920"/>
            <a:ext cx="83623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800"/>
              <a:t>Phân tích gói tin phản hồi xác thực</a:t>
            </a:r>
            <a:endParaRPr lang="vi-VN" altLang="en-GB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995" y="1976120"/>
            <a:ext cx="5524500" cy="29051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220470" y="5106035"/>
            <a:ext cx="78568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Code (2) là gói tin xác thực thành </a:t>
            </a:r>
            <a:r>
              <a:rPr lang="vi-VN" altLang="en-GB" sz="2000"/>
              <a:t>công Authenticate-ACK</a:t>
            </a:r>
            <a:r>
              <a:rPr lang="vi-VN" altLang="en-GB" sz="2000" u="heavy"/>
              <a:t> </a:t>
            </a:r>
            <a:endParaRPr lang="vi-VN" altLang="en-GB" sz="2000" u="heavy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Nếu thất bại thì Code là (3) </a:t>
            </a:r>
            <a:r>
              <a:rPr lang="en-US" altLang="en-GB" sz="2000"/>
              <a:t>Authenticate-Nak</a:t>
            </a:r>
            <a:endParaRPr lang="en-US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53440" y="1512570"/>
            <a:ext cx="10615295" cy="1543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vi-VN" altLang="en-GB" sz="4800"/>
              <a:t>2. Triển khai giao thức </a:t>
            </a:r>
            <a:r>
              <a:rPr lang="vi-VN" altLang="en-GB" sz="4800"/>
              <a:t>CHAP 2 chiều</a:t>
            </a:r>
            <a:endParaRPr lang="vi-VN" altLang="en-GB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2. Triển khai giao thức CHAP 2 chiều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1108075" y="2296795"/>
            <a:ext cx="9643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3200"/>
              <a:t>Bật xác </a:t>
            </a:r>
            <a:r>
              <a:rPr lang="vi-VN" altLang="en-GB" sz="3200"/>
              <a:t>thực PPP authetication CHAP</a:t>
            </a:r>
            <a:endParaRPr lang="vi-VN" altLang="en-GB" sz="3200"/>
          </a:p>
        </p:txBody>
      </p:sp>
      <p:sp>
        <p:nvSpPr>
          <p:cNvPr id="6" name="Text Box 5"/>
          <p:cNvSpPr txBox="1"/>
          <p:nvPr/>
        </p:nvSpPr>
        <p:spPr>
          <a:xfrm>
            <a:off x="1108075" y="3001645"/>
            <a:ext cx="8818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3200"/>
              <a:t>Tạo tài khoản xác thực trên PTP1 và PTP2</a:t>
            </a:r>
            <a:endParaRPr lang="vi-VN" altLang="en-GB" sz="32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24465" b="14985"/>
          <a:stretch>
            <a:fillRect/>
          </a:stretch>
        </p:blipFill>
        <p:spPr>
          <a:xfrm>
            <a:off x="1108075" y="3845560"/>
            <a:ext cx="9194165" cy="40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1598" t="28848" r="26947" b="54061"/>
          <a:stretch>
            <a:fillRect/>
          </a:stretch>
        </p:blipFill>
        <p:spPr>
          <a:xfrm>
            <a:off x="1188720" y="4579620"/>
            <a:ext cx="9032240" cy="506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altLang="en-GB">
                <a:sym typeface="+mn-ea"/>
              </a:rPr>
              <a:t>2. Triển khai giao thức CHAP 2 chiều</a:t>
            </a:r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13740" y="1343025"/>
            <a:ext cx="8402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3200"/>
              <a:t>Bắt và phân tích gói tin trên wireshark</a:t>
            </a:r>
            <a:endParaRPr lang="vi-VN" altLang="en-GB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2682" t="3125" r="5380" b="12168"/>
          <a:stretch>
            <a:fillRect/>
          </a:stretch>
        </p:blipFill>
        <p:spPr>
          <a:xfrm>
            <a:off x="327025" y="2048510"/>
            <a:ext cx="11209020" cy="16179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36550" y="3974465"/>
            <a:ext cx="112922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Gửi gói tin challenge tới router cần xác thực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Router cần xác thực sẽ băm Identifi</a:t>
            </a:r>
            <a:r>
              <a:rPr lang="vi-VN" altLang="en-GB" sz="2000"/>
              <a:t>er + password + chuỗi challenge rồi phản hồi </a:t>
            </a:r>
            <a:r>
              <a:rPr lang="vi-VN" altLang="en-GB" sz="2000"/>
              <a:t>lại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Router xác thực kiểm tra rồi gửi lại xác thực Success hoặc Fail</a:t>
            </a:r>
            <a:r>
              <a:rPr lang="vi-VN" altLang="en-GB" sz="2000"/>
              <a:t>ure </a:t>
            </a:r>
            <a:endParaRPr lang="vi-VN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002665" y="1313815"/>
            <a:ext cx="7633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3200"/>
              <a:t>Phân tích gói tin Challenge</a:t>
            </a:r>
            <a:endParaRPr lang="vi-VN" altLang="en-GB" sz="3200"/>
          </a:p>
        </p:txBody>
      </p:sp>
      <p:sp>
        <p:nvSpPr>
          <p:cNvPr id="6" name="Text Box 5"/>
          <p:cNvSpPr txBox="1"/>
          <p:nvPr/>
        </p:nvSpPr>
        <p:spPr>
          <a:xfrm>
            <a:off x="675005" y="4841240"/>
            <a:ext cx="10956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Protocol: C223 là giao thức </a:t>
            </a:r>
            <a:r>
              <a:rPr lang="vi-VN" altLang="en-GB" sz="2000"/>
              <a:t>CHAP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Code (1) là gói Challenge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Value là chuỗi Challenge ngẫu nhiên</a:t>
            </a:r>
            <a:endParaRPr lang="vi-VN" altLang="en-GB" sz="200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075" y="1807845"/>
            <a:ext cx="6447155" cy="2913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1108075" y="1322705"/>
            <a:ext cx="7839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3200"/>
              <a:t>Phân tích gói tin </a:t>
            </a:r>
            <a:r>
              <a:rPr lang="vi-VN" altLang="en-GB" sz="3200"/>
              <a:t>Response</a:t>
            </a:r>
            <a:endParaRPr lang="vi-VN" altLang="en-GB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b="6615"/>
          <a:stretch>
            <a:fillRect/>
          </a:stretch>
        </p:blipFill>
        <p:spPr>
          <a:xfrm>
            <a:off x="1172845" y="1906270"/>
            <a:ext cx="5086350" cy="22860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23925" y="4476750"/>
            <a:ext cx="106908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Code (2) là gói Response</a:t>
            </a:r>
            <a:endParaRPr lang="vi-VN" altLang="en-GB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en-GB" sz="2000"/>
              <a:t>Value là chuỗi băm </a:t>
            </a:r>
            <a:r>
              <a:rPr lang="vi-VN" altLang="en-GB" sz="2000">
                <a:sym typeface="+mn-ea"/>
              </a:rPr>
              <a:t>Identifier + password + challenge</a:t>
            </a:r>
            <a:r>
              <a:rPr lang="vi-VN" altLang="en-GB" sz="2000">
                <a:sym typeface="+mn-ea"/>
              </a:rPr>
              <a:t> value</a:t>
            </a:r>
            <a:endParaRPr lang="vi-VN" altLang="en-GB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en-GB" sz="2000">
                <a:sym typeface="+mn-ea"/>
              </a:rPr>
              <a:t>trong đó Identifier là ID định danh của gói challenge thay đổi theo từng phiên làm việc</a:t>
            </a:r>
            <a:endParaRPr lang="vi-VN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52170" y="1376045"/>
            <a:ext cx="99974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3200"/>
              <a:t>Phân tích gói tin kết quả </a:t>
            </a:r>
            <a:endParaRPr lang="vi-VN" altLang="en-GB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530" y="1959610"/>
            <a:ext cx="6360160" cy="19672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029970" y="4245610"/>
            <a:ext cx="660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GB" sz="2000"/>
              <a:t>Code (3) là Success, Code (4) là Failure</a:t>
            </a:r>
            <a:endParaRPr lang="vi-VN" altLang="en-GB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44.5314173228347,&quot;left&quot;:312.70338582677164,&quot;top&quot;:149.72330708661417,&quot;width&quot;:645.5454330708662}"/>
</p:tagLst>
</file>

<file path=ppt/tags/tag2.xml><?xml version="1.0" encoding="utf-8"?>
<p:tagLst xmlns:p="http://schemas.openxmlformats.org/presentationml/2006/main">
  <p:tag name="KSO_WM_DIAGRAM_VIRTUALLY_FRAME" val="{&quot;height&quot;:244.5314173228347,&quot;left&quot;:312.70338582677164,&quot;top&quot;:149.72330708661417,&quot;width&quot;:645.5454330708662}"/>
</p:tagLst>
</file>

<file path=ppt/tags/tag3.xml><?xml version="1.0" encoding="utf-8"?>
<p:tagLst xmlns:p="http://schemas.openxmlformats.org/presentationml/2006/main">
  <p:tag name="KSO_WM_DIAGRAM_VIRTUALLY_FRAME" val="{&quot;height&quot;:244.5314173228347,&quot;left&quot;:312.70338582677164,&quot;top&quot;:149.72330708661417,&quot;width&quot;:645.5454330708662}"/>
</p:tagLst>
</file>

<file path=ppt/tags/tag4.xml><?xml version="1.0" encoding="utf-8"?>
<p:tagLst xmlns:p="http://schemas.openxmlformats.org/presentationml/2006/main">
  <p:tag name="KSO_WM_DIAGRAM_VIRTUALLY_FRAME" val="{&quot;height&quot;:244.5314173228347,&quot;left&quot;:312.70338582677164,&quot;top&quot;:149.72330708661417,&quot;width&quot;:645.5454330708662}"/>
</p:tagLst>
</file>

<file path=ppt/tags/tag5.xml><?xml version="1.0" encoding="utf-8"?>
<p:tagLst xmlns:p="http://schemas.openxmlformats.org/presentationml/2006/main">
  <p:tag name="KSO_WM_DIAGRAM_VIRTUALLY_FRAME" val="{&quot;height&quot;:244.5314173228347,&quot;left&quot;:312.70338582677164,&quot;top&quot;:149.72330708661417,&quot;width&quot;:645.5454330708662}"/>
</p:tagLst>
</file>

<file path=ppt/tags/tag6.xml><?xml version="1.0" encoding="utf-8"?>
<p:tagLst xmlns:p="http://schemas.openxmlformats.org/presentationml/2006/main">
  <p:tag name="KSO_WM_DIAGRAM_VIRTUALLY_FRAME" val="{&quot;height&quot;:244.5314173228347,&quot;left&quot;:312.70338582677164,&quot;top&quot;:149.72330708661417,&quot;width&quot;:645.5454330708662}"/>
</p:tagLst>
</file>

<file path=ppt/tags/tag7.xml><?xml version="1.0" encoding="utf-8"?>
<p:tagLst xmlns:p="http://schemas.openxmlformats.org/presentationml/2006/main">
  <p:tag name="KSO_WM_DIAGRAM_VIRTUALLY_FRAME" val="{&quot;height&quot;:244.5314173228347,&quot;left&quot;:315.982125984252,&quot;top&quot;:149.72330708661417,&quot;width&quot;:642.2666929133859}"/>
</p:tagLst>
</file>

<file path=ppt/tags/tag8.xml><?xml version="1.0" encoding="utf-8"?>
<p:tagLst xmlns:p="http://schemas.openxmlformats.org/presentationml/2006/main">
  <p:tag name="KSO_WM_DIAGRAM_VIRTUALLY_FRAME" val="{&quot;height&quot;:244.5314173228347,&quot;left&quot;:315.982125984252,&quot;top&quot;:149.72330708661417,&quot;width&quot;:642.2666929133859}"/>
</p:tagLst>
</file>

<file path=ppt/tags/tag9.xml><?xml version="1.0" encoding="utf-8"?>
<p:tagLst xmlns:p="http://schemas.openxmlformats.org/presentationml/2006/main">
  <p:tag name="KSO_WM_DIAGRAM_VIRTUALLY_FRAME" val="{&quot;height&quot;:244.5314173228347,&quot;left&quot;:315.982125984252,&quot;top&quot;:149.72330708661417,&quot;width&quot;:642.2666929133859}"/>
</p:tagLst>
</file>

<file path=ppt/theme/theme1.xml><?xml version="1.0" encoding="utf-8"?>
<a:theme xmlns:a="http://schemas.openxmlformats.org/drawingml/2006/main" name="Master">
  <a:themeElements>
    <a:clrScheme name="自定义 19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F213B"/>
      </a:accent1>
      <a:accent2>
        <a:srgbClr val="595959"/>
      </a:accent2>
      <a:accent3>
        <a:srgbClr val="DF213B"/>
      </a:accent3>
      <a:accent4>
        <a:srgbClr val="595959"/>
      </a:accent4>
      <a:accent5>
        <a:srgbClr val="DF213B"/>
      </a:accent5>
      <a:accent6>
        <a:srgbClr val="595959"/>
      </a:accent6>
      <a:hlink>
        <a:srgbClr val="DF213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90">
    <a:dk1>
      <a:srgbClr val="000000"/>
    </a:dk1>
    <a:lt1>
      <a:srgbClr val="FFFFFF"/>
    </a:lt1>
    <a:dk2>
      <a:srgbClr val="44546A"/>
    </a:dk2>
    <a:lt2>
      <a:srgbClr val="E7E6E6"/>
    </a:lt2>
    <a:accent1>
      <a:srgbClr val="DF213B"/>
    </a:accent1>
    <a:accent2>
      <a:srgbClr val="595959"/>
    </a:accent2>
    <a:accent3>
      <a:srgbClr val="DF213B"/>
    </a:accent3>
    <a:accent4>
      <a:srgbClr val="595959"/>
    </a:accent4>
    <a:accent5>
      <a:srgbClr val="DF213B"/>
    </a:accent5>
    <a:accent6>
      <a:srgbClr val="595959"/>
    </a:accent6>
    <a:hlink>
      <a:srgbClr val="DF213B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2002</Words>
  <Application>WPS Presentation</Application>
  <PresentationFormat>Widescreen</PresentationFormat>
  <Paragraphs>103</Paragraphs>
  <Slides>18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Noto Sans Symbols</vt:lpstr>
      <vt:lpstr>Segoe Print</vt:lpstr>
      <vt:lpstr>Times New Roman</vt:lpstr>
      <vt:lpstr>Constantia</vt:lpstr>
      <vt:lpstr>Arial</vt:lpstr>
      <vt:lpstr>Microsoft YaHei</vt:lpstr>
      <vt:lpstr>Arial Unicode MS</vt:lpstr>
      <vt:lpstr>Master</vt:lpstr>
      <vt:lpstr>Custom Design</vt:lpstr>
      <vt:lpstr>PowerPoint 演示文稿</vt:lpstr>
      <vt:lpstr>PowerPoint 演示文稿</vt:lpstr>
      <vt:lpstr>PowerPoint 演示文稿</vt:lpstr>
      <vt:lpstr>PowerPoint 演示文稿</vt:lpstr>
      <vt:lpstr>Triển khai giao thức PAP 2 chiều</vt:lpstr>
      <vt:lpstr>Triển khai giao thức PAP 2 chiều</vt:lpstr>
      <vt:lpstr>Triển khai giao thức PAP 2 chiều</vt:lpstr>
      <vt:lpstr>Triển khai giao thức PAP 2 chiều</vt:lpstr>
      <vt:lpstr>Triển khai giao thức PAP 2 chiều</vt:lpstr>
      <vt:lpstr>Triển khai giao thức PAP 2 chiều</vt:lpstr>
      <vt:lpstr>Triển khai giao thức PAP 2 chiều</vt:lpstr>
      <vt:lpstr>Triển khai giao thức PAP 2 chiều</vt:lpstr>
      <vt:lpstr>PowerPoint 演示文稿</vt:lpstr>
      <vt:lpstr>2. Triển khai giao thức CHAP 2 chiều</vt:lpstr>
      <vt:lpstr>2. Triển khai giao thức CHAP 2 chiều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nguyenminhquana4@gmail.com</dc:creator>
  <cp:lastModifiedBy>Phong Phan Thế</cp:lastModifiedBy>
  <cp:revision>20</cp:revision>
  <dcterms:created xsi:type="dcterms:W3CDTF">2023-02-14T14:28:00Z</dcterms:created>
  <dcterms:modified xsi:type="dcterms:W3CDTF">2026-06-12T09:47:25Z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0x010100EE7E4853E89DF7448AF0BE7E45BE680A</vt:lpwstr>
  </property>
  <property fmtid="{D5CDD505-2E9C-101B-9397-08002B2CF9AE}" pid="3" name="ICV">
    <vt:lpwstr>B43E5D5856FC4FC4B40F8C6A2209B996_13</vt:lpwstr>
  </property>
  <property fmtid="{D5CDD505-2E9C-101B-9397-08002B2CF9AE}" pid="4" name="KSOProductBuildVer">
    <vt:lpwstr>2057-12.2.0.23202</vt:lpwstr>
  </property>
</Properties>
</file>