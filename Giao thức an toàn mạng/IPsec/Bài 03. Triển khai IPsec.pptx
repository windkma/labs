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3" r:id="rId9"/>
    <p:sldId id="271" r:id="rId10"/>
    <p:sldId id="262" r:id="rId11"/>
    <p:sldId id="264" r:id="rId12"/>
    <p:sldId id="265" r:id="rId13"/>
    <p:sldId id="269" r:id="rId14"/>
    <p:sldId id="270" r:id="rId15"/>
    <p:sldId id="266" r:id="rId16"/>
    <p:sldId id="267" r:id="rId17"/>
    <p:sldId id="268" r:id="rId18"/>
    <p:sldId id="272" r:id="rId19"/>
    <p:sldId id="274" r:id="rId20"/>
    <p:sldId id="275" r:id="rId21"/>
    <p:sldId id="276" r:id="rId22"/>
    <p:sldId id="277" r:id="rId23"/>
    <p:sldId id="279" r:id="rId24"/>
    <p:sldId id="278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9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1">
  <p:cSld name="Slide 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9"/>
          <p:cNvPicPr preferRelativeResize="0"/>
          <p:nvPr/>
        </p:nvPicPr>
        <p:blipFill rotWithShape="1">
          <a:blip r:embed="rId2"/>
          <a:srcRect b="15749"/>
          <a:stretch>
            <a:fillRect/>
          </a:stretch>
        </p:blipFill>
        <p:spPr>
          <a:xfrm>
            <a:off x="7042172" y="2937164"/>
            <a:ext cx="5149827" cy="3920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1199" y="347825"/>
            <a:ext cx="2828693" cy="4142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9"/>
          <p:cNvSpPr txBox="1"/>
          <p:nvPr/>
        </p:nvSpPr>
        <p:spPr>
          <a:xfrm>
            <a:off x="42393" y="6456315"/>
            <a:ext cx="12192000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29"/>
          <p:cNvSpPr txBox="1"/>
          <p:nvPr/>
        </p:nvSpPr>
        <p:spPr>
          <a:xfrm>
            <a:off x="4782064" y="6530109"/>
            <a:ext cx="7367543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" name="Google Shape;18;p29"/>
          <p:cNvPicPr preferRelativeResize="0"/>
          <p:nvPr/>
        </p:nvPicPr>
        <p:blipFill rotWithShape="1">
          <a:blip r:embed="rId4"/>
          <a:srcRect l="8202" t="3636" r="9277" b="4781"/>
          <a:stretch>
            <a:fillRect/>
          </a:stretch>
        </p:blipFill>
        <p:spPr>
          <a:xfrm>
            <a:off x="11244125" y="62234"/>
            <a:ext cx="824168" cy="912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2">
  <p:cSld name="Slide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flipH="1">
            <a:off x="0" y="188415"/>
            <a:ext cx="4463844" cy="66695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30"/>
          <p:cNvGrpSpPr/>
          <p:nvPr/>
        </p:nvGrpSpPr>
        <p:grpSpPr>
          <a:xfrm>
            <a:off x="8256539" y="30869"/>
            <a:ext cx="3846759" cy="1080603"/>
            <a:chOff x="8308168" y="-57704"/>
            <a:chExt cx="3846759" cy="1080603"/>
          </a:xfrm>
        </p:grpSpPr>
        <p:pic>
          <p:nvPicPr>
            <p:cNvPr id="22" name="Google Shape;22;p30"/>
            <p:cNvPicPr preferRelativeResize="0"/>
            <p:nvPr/>
          </p:nvPicPr>
          <p:blipFill rotWithShape="1">
            <a:blip r:embed="rId3"/>
            <a:srcRect l="5460" r="6685"/>
            <a:stretch>
              <a:fillRect/>
            </a:stretch>
          </p:blipFill>
          <p:spPr>
            <a:xfrm>
              <a:off x="11203582" y="-57704"/>
              <a:ext cx="951345" cy="1080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0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8308168" y="265786"/>
              <a:ext cx="2877160" cy="433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24;p30"/>
          <p:cNvSpPr txBox="1"/>
          <p:nvPr/>
        </p:nvSpPr>
        <p:spPr>
          <a:xfrm>
            <a:off x="0" y="6530109"/>
            <a:ext cx="12192000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alibri" panose="020F0502020204030204"/>
              <a:buNone/>
            </a:pPr>
            <a:endParaRPr sz="1400" b="0" i="1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30"/>
          <p:cNvSpPr txBox="1"/>
          <p:nvPr/>
        </p:nvSpPr>
        <p:spPr>
          <a:xfrm>
            <a:off x="0" y="6530109"/>
            <a:ext cx="7451124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">
  <p:cSld name="Slide 5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"/>
          <p:cNvSpPr>
            <a:spLocks noGrp="1"/>
          </p:cNvSpPr>
          <p:nvPr>
            <p:ph type="pic" idx="2"/>
          </p:nvPr>
        </p:nvSpPr>
        <p:spPr>
          <a:xfrm>
            <a:off x="1600201" y="2085976"/>
            <a:ext cx="3971925" cy="21621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3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31"/>
          <p:cNvSpPr txBox="1">
            <a:spLocks noGrp="1"/>
          </p:cNvSpPr>
          <p:nvPr>
            <p:ph type="title"/>
          </p:nvPr>
        </p:nvSpPr>
        <p:spPr>
          <a:xfrm>
            <a:off x="1108364" y="175484"/>
            <a:ext cx="11016586" cy="71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4400" b="1" i="0" u="none" strike="noStrike" cap="none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0" name="Google Shape;30;p31"/>
          <p:cNvSpPr txBox="1"/>
          <p:nvPr/>
        </p:nvSpPr>
        <p:spPr>
          <a:xfrm>
            <a:off x="42392" y="6507831"/>
            <a:ext cx="4774052" cy="3054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1" name="Google Shape;31;p31"/>
          <p:cNvPicPr preferRelativeResize="0"/>
          <p:nvPr/>
        </p:nvPicPr>
        <p:blipFill rotWithShape="1">
          <a:blip r:embed="rId2"/>
          <a:srcRect l="5089" t="2190" r="3980" b="2133"/>
          <a:stretch>
            <a:fillRect/>
          </a:stretch>
        </p:blipFill>
        <p:spPr>
          <a:xfrm>
            <a:off x="36558" y="0"/>
            <a:ext cx="1071806" cy="1125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/>
        </p:nvSpPr>
        <p:spPr>
          <a:xfrm>
            <a:off x="1238250" y="5160010"/>
            <a:ext cx="5573395" cy="97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Sinh viên thực </a:t>
            </a: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hiện</a:t>
            </a:r>
            <a:endParaRPr lang="vi-VN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524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Phan Thế Phong - </a:t>
            </a: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AT200345</a:t>
            </a:r>
            <a:endParaRPr lang="vi-VN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5638800" y="299197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76201" y="1513830"/>
            <a:ext cx="12344401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altLang="en-US" sz="3600" b="1" dirty="0">
                <a:solidFill>
                  <a:schemeClr val="dk1"/>
                </a:solidFill>
                <a:latin typeface="Constantia" panose="02030602050306030303"/>
              </a:rPr>
              <a:t>Triển khai giao thức </a:t>
            </a:r>
            <a:r>
              <a:rPr lang="vi-VN" altLang="en-US" sz="3600" b="1" dirty="0">
                <a:solidFill>
                  <a:schemeClr val="dk1"/>
                </a:solidFill>
                <a:latin typeface="Constantia" panose="02030602050306030303"/>
              </a:rPr>
              <a:t>IPSEC</a:t>
            </a:r>
            <a:endParaRPr lang="vi-VN" altLang="en-US" sz="3600" b="1" dirty="0">
              <a:solidFill>
                <a:schemeClr val="dk1"/>
              </a:solidFill>
              <a:latin typeface="Constantia" panose="020306020503060303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1106182" y="2602390"/>
            <a:ext cx="25314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NỘI DUNG</a:t>
            </a:r>
            <a:endParaRPr lang="en-US" sz="3600" b="1">
              <a:solidFill>
                <a:srgbClr val="1D7C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54" name="Google Shape;154;p2"/>
          <p:cNvGrpSpPr/>
          <p:nvPr>
            <p:custDataLst>
              <p:tags r:id="rId1"/>
            </p:custDataLst>
          </p:nvPr>
        </p:nvGrpSpPr>
        <p:grpSpPr>
          <a:xfrm>
            <a:off x="3911373" y="968820"/>
            <a:ext cx="7382614" cy="705485"/>
            <a:chOff x="5561568" y="2150659"/>
            <a:chExt cx="5563680" cy="708860"/>
          </a:xfrm>
        </p:grpSpPr>
        <p:sp>
          <p:nvSpPr>
            <p:cNvPr id="155" name="Google Shape;155;p2"/>
            <p:cNvSpPr txBox="1"/>
            <p:nvPr>
              <p:custDataLst>
                <p:tags r:id="rId2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Thiết lập </a:t>
              </a: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chung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6" name="Google Shape;156;p2"/>
            <p:cNvSpPr txBox="1"/>
            <p:nvPr>
              <p:custDataLst>
                <p:tags r:id="rId3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157" name="Google Shape;157;p2"/>
          <p:cNvGrpSpPr/>
          <p:nvPr>
            <p:custDataLst>
              <p:tags r:id="rId4"/>
            </p:custDataLst>
          </p:nvPr>
        </p:nvGrpSpPr>
        <p:grpSpPr>
          <a:xfrm>
            <a:off x="3911373" y="4831279"/>
            <a:ext cx="6921505" cy="705486"/>
            <a:chOff x="5487735" y="1732556"/>
            <a:chExt cx="5830086" cy="208101"/>
          </a:xfrm>
        </p:grpSpPr>
        <p:sp>
          <p:nvSpPr>
            <p:cNvPr id="158" name="Google Shape;158;p2"/>
            <p:cNvSpPr txBox="1"/>
            <p:nvPr>
              <p:custDataLst>
                <p:tags r:id="rId5"/>
              </p:custDataLst>
            </p:nvPr>
          </p:nvSpPr>
          <p:spPr>
            <a:xfrm>
              <a:off x="6183375" y="1762992"/>
              <a:ext cx="5134446" cy="153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800" b="1" dirty="0">
                  <a:solidFill>
                    <a:schemeClr val="tx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ESP </a:t>
              </a:r>
              <a:r>
                <a:rPr lang="vi-VN" sz="2800" b="1" dirty="0">
                  <a:solidFill>
                    <a:schemeClr val="tx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Tunnel</a:t>
              </a:r>
              <a:endParaRPr lang="vi-VN" sz="28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9" name="Google Shape;159;p2"/>
            <p:cNvSpPr txBox="1"/>
            <p:nvPr>
              <p:custDataLst>
                <p:tags r:id="rId6"/>
              </p:custDataLst>
            </p:nvPr>
          </p:nvSpPr>
          <p:spPr>
            <a:xfrm>
              <a:off x="5487735" y="1732556"/>
              <a:ext cx="695640" cy="2081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5.</a:t>
              </a:r>
              <a:endParaRPr lang="vi-VN" alt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2" name="Google Shape;154;p2"/>
          <p:cNvGrpSpPr/>
          <p:nvPr>
            <p:custDataLst>
              <p:tags r:id="rId7"/>
            </p:custDataLst>
          </p:nvPr>
        </p:nvGrpSpPr>
        <p:grpSpPr>
          <a:xfrm>
            <a:off x="3911373" y="1798130"/>
            <a:ext cx="7382614" cy="705485"/>
            <a:chOff x="5561568" y="2150659"/>
            <a:chExt cx="5563680" cy="708860"/>
          </a:xfrm>
        </p:grpSpPr>
        <p:sp>
          <p:nvSpPr>
            <p:cNvPr id="3" name="Google Shape;155;p2"/>
            <p:cNvSpPr txBox="1"/>
            <p:nvPr>
              <p:custDataLst>
                <p:tags r:id="rId8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AH </a:t>
              </a: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Transport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" name="Google Shape;156;p2"/>
            <p:cNvSpPr txBox="1"/>
            <p:nvPr>
              <p:custDataLst>
                <p:tags r:id="rId9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2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6" name="Google Shape;154;p2"/>
          <p:cNvGrpSpPr/>
          <p:nvPr>
            <p:custDataLst>
              <p:tags r:id="rId10"/>
            </p:custDataLst>
          </p:nvPr>
        </p:nvGrpSpPr>
        <p:grpSpPr>
          <a:xfrm>
            <a:off x="3877718" y="2807145"/>
            <a:ext cx="7382614" cy="705485"/>
            <a:chOff x="5561568" y="2150659"/>
            <a:chExt cx="5563680" cy="708860"/>
          </a:xfrm>
        </p:grpSpPr>
        <p:sp>
          <p:nvSpPr>
            <p:cNvPr id="7" name="Google Shape;155;p2"/>
            <p:cNvSpPr txBox="1"/>
            <p:nvPr>
              <p:custDataLst>
                <p:tags r:id="rId11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ESP Transport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" name="Google Shape;156;p2"/>
            <p:cNvSpPr txBox="1"/>
            <p:nvPr>
              <p:custDataLst>
                <p:tags r:id="rId12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3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9" name="Google Shape;154;p2"/>
          <p:cNvGrpSpPr/>
          <p:nvPr>
            <p:custDataLst>
              <p:tags r:id="rId13"/>
            </p:custDataLst>
          </p:nvPr>
        </p:nvGrpSpPr>
        <p:grpSpPr>
          <a:xfrm>
            <a:off x="3877718" y="3818700"/>
            <a:ext cx="7382614" cy="705485"/>
            <a:chOff x="5561568" y="2150659"/>
            <a:chExt cx="5563680" cy="708860"/>
          </a:xfrm>
        </p:grpSpPr>
        <p:sp>
          <p:nvSpPr>
            <p:cNvPr id="10" name="Google Shape;155;p2"/>
            <p:cNvSpPr txBox="1"/>
            <p:nvPr>
              <p:custDataLst>
                <p:tags r:id="rId14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AH Tun</a:t>
              </a:r>
              <a:r>
                <a:rPr lang="vi-VN" altLang="en-US" sz="2800" b="1" dirty="0">
                  <a:solidFill>
                    <a:schemeClr val="tx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nel</a:t>
              </a:r>
              <a:endParaRPr lang="vi-VN" altLang="en-US" sz="2800" b="1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" name="Google Shape;156;p2"/>
            <p:cNvSpPr txBox="1"/>
            <p:nvPr>
              <p:custDataLst>
                <p:tags r:id="rId15"/>
              </p:custDataLst>
            </p:nvPr>
          </p:nvSpPr>
          <p:spPr>
            <a:xfrm>
              <a:off x="5561568" y="2150659"/>
              <a:ext cx="622389" cy="7088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</a:t>
              </a:r>
              <a:r>
                <a:rPr lang="vi-VN" alt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4</a:t>
              </a: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1. Thiết lập </a:t>
            </a:r>
            <a:r>
              <a:rPr lang="vi-VN" altLang="en-GB" sz="4800"/>
              <a:t>chung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/>
              <a:t>Thiết lập </a:t>
            </a:r>
            <a:r>
              <a:rPr lang="vi-VN" altLang="en-GB"/>
              <a:t>chung</a:t>
            </a:r>
            <a:endParaRPr lang="vi-VN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1225550" y="1456690"/>
            <a:ext cx="7324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Mô hình </a:t>
            </a:r>
            <a:r>
              <a:rPr lang="vi-VN" altLang="en-GB"/>
              <a:t>mạng</a:t>
            </a:r>
            <a:endParaRPr lang="vi-VN" altLang="en-GB"/>
          </a:p>
        </p:txBody>
      </p:sp>
      <p:sp>
        <p:nvSpPr>
          <p:cNvPr id="7" name="Text Box 6"/>
          <p:cNvSpPr txBox="1"/>
          <p:nvPr/>
        </p:nvSpPr>
        <p:spPr>
          <a:xfrm>
            <a:off x="1438910" y="52946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940" y="2153285"/>
            <a:ext cx="7882255" cy="3039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Thiết lập chung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08075" y="1286510"/>
            <a:ext cx="105397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Cài đặt công cụ Strong</a:t>
            </a:r>
            <a:r>
              <a:rPr lang="vi-VN" altLang="en-GB"/>
              <a:t>swan cho cả 2 </a:t>
            </a:r>
            <a:r>
              <a:rPr lang="vi-VN" altLang="en-GB"/>
              <a:t>máy</a:t>
            </a:r>
            <a:endParaRPr lang="vi-VN" altLang="en-GB"/>
          </a:p>
          <a:p>
            <a:r>
              <a:rPr lang="vi-VN" altLang="en-GB"/>
              <a:t>Tạo Pre-Share-Key (PSK) dùng chung cho 2 máy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b="22356"/>
          <a:stretch>
            <a:fillRect/>
          </a:stretch>
        </p:blipFill>
        <p:spPr>
          <a:xfrm>
            <a:off x="1163955" y="2030095"/>
            <a:ext cx="7961630" cy="16738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b="11538"/>
          <a:stretch>
            <a:fillRect/>
          </a:stretch>
        </p:blipFill>
        <p:spPr>
          <a:xfrm>
            <a:off x="1163955" y="3991610"/>
            <a:ext cx="7962265" cy="1737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2. AH </a:t>
            </a:r>
            <a:r>
              <a:rPr lang="vi-VN" altLang="en-GB" sz="4800"/>
              <a:t>Transport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AH Transport</a:t>
            </a:r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585" y="1344930"/>
            <a:ext cx="9867900" cy="4524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AH Transport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71575" y="1356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Sửa file /etc/ipsec.</a:t>
            </a:r>
            <a:r>
              <a:rPr lang="vi-VN" altLang="en-GB"/>
              <a:t>conf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1990" r="7398"/>
          <a:stretch>
            <a:fillRect/>
          </a:stretch>
        </p:blipFill>
        <p:spPr>
          <a:xfrm>
            <a:off x="798195" y="2195830"/>
            <a:ext cx="3526790" cy="184213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98195" y="17760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Bên </a:t>
            </a:r>
            <a:r>
              <a:rPr lang="vi-VN" altLang="en-GB"/>
              <a:t>Server</a:t>
            </a:r>
            <a:endParaRPr lang="vi-VN" altLang="en-GB"/>
          </a:p>
        </p:txBody>
      </p:sp>
      <p:sp>
        <p:nvSpPr>
          <p:cNvPr id="7" name="Text Box 6"/>
          <p:cNvSpPr txBox="1"/>
          <p:nvPr/>
        </p:nvSpPr>
        <p:spPr>
          <a:xfrm>
            <a:off x="798195" y="42633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Bên </a:t>
            </a:r>
            <a:r>
              <a:rPr lang="vi-VN" altLang="en-GB"/>
              <a:t>Client</a:t>
            </a:r>
            <a:endParaRPr lang="vi-VN" alt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r="24523"/>
          <a:stretch>
            <a:fillRect/>
          </a:stretch>
        </p:blipFill>
        <p:spPr>
          <a:xfrm>
            <a:off x="798195" y="4631690"/>
            <a:ext cx="3206115" cy="18288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4591050" y="2105025"/>
            <a:ext cx="7393305" cy="38563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vi-VN" altLang="en-GB"/>
              <a:t>conn transportAH: khai báo kết nối mới và đặt tên cho kết nối này</a:t>
            </a:r>
            <a:endParaRPr lang="vi-VN" altLang="en-GB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vi-VN" altLang="en-GB"/>
              <a:t>type=transport: thiết lập chế độ hoạt động là transport </a:t>
            </a:r>
            <a:r>
              <a:rPr lang="vi-VN" altLang="en-GB"/>
              <a:t>mode</a:t>
            </a:r>
            <a:endParaRPr lang="vi-VN" altLang="en-GB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vi-VN" altLang="en-GB"/>
              <a:t>left: chỉ định ip của máy cục </a:t>
            </a:r>
            <a:r>
              <a:rPr lang="vi-VN" altLang="en-GB"/>
              <a:t>bộ</a:t>
            </a:r>
            <a:endParaRPr lang="vi-VN" altLang="en-GB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vi-VN" altLang="en-GB"/>
              <a:t>right: chỉ định ip của máy chủ từ xa kết nối </a:t>
            </a:r>
            <a:r>
              <a:rPr lang="vi-VN" altLang="en-GB"/>
              <a:t>tới</a:t>
            </a:r>
            <a:endParaRPr lang="vi-VN" altLang="en-GB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vi-VN" altLang="en-GB"/>
              <a:t>authby: định nghĩa phương thức xác thực giữa 2 máy là PSK sử dụng khóa bí mật trong file ipsec.secret</a:t>
            </a:r>
            <a:r>
              <a:rPr lang="vi-VN" altLang="en-GB"/>
              <a:t>s</a:t>
            </a:r>
            <a:endParaRPr lang="vi-VN" altLang="en-GB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vi-VN" altLang="en-GB"/>
              <a:t>ah=aes128-sha1: chỉ định giao thức AH và thuật toán mã </a:t>
            </a:r>
            <a:r>
              <a:rPr lang="vi-VN" altLang="en-GB"/>
              <a:t>hóa</a:t>
            </a:r>
            <a:endParaRPr lang="vi-VN" altLang="en-GB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vi-VN" altLang="en-GB"/>
              <a:t>auto=start: tự động kích hoạt khi phần mềm khởi </a:t>
            </a:r>
            <a:r>
              <a:rPr lang="vi-VN" altLang="en-GB"/>
              <a:t>động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AH Transport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592455" y="11633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Khởi động lại và kiểm tra lại trạng </a:t>
            </a:r>
            <a:r>
              <a:rPr lang="vi-VN" altLang="en-GB"/>
              <a:t>thái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455" y="1531620"/>
            <a:ext cx="8162925" cy="11144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" y="2781935"/>
            <a:ext cx="8162290" cy="11220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92455" y="4100830"/>
            <a:ext cx="106845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1 up, 0 connecting: 1 kết nối thành công và 0 có kết nối nào đang bị </a:t>
            </a:r>
            <a:r>
              <a:rPr lang="vi-VN" altLang="en-GB"/>
              <a:t>kẹt 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t</a:t>
            </a:r>
            <a:r>
              <a:rPr lang="vi-VN" altLang="en-GB"/>
              <a:t>ransportAH: tên kết nối VPN và số thứ tự [</a:t>
            </a:r>
            <a:r>
              <a:rPr lang="vi-VN" altLang="en-GB"/>
              <a:t>1]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Địa chỉ IP của server và </a:t>
            </a:r>
            <a:r>
              <a:rPr lang="vi-VN" altLang="en-GB"/>
              <a:t>client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reqid (request </a:t>
            </a:r>
            <a:r>
              <a:rPr lang="vi-VN" altLang="en-GB"/>
              <a:t>id) 1: ID yêu cầu của kết </a:t>
            </a:r>
            <a:r>
              <a:rPr lang="vi-VN" altLang="en-GB"/>
              <a:t>nối 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/>
              <a:t>10.3.51.109/32 === 10.3.51.9/32</a:t>
            </a:r>
            <a:r>
              <a:rPr lang="vi-VN" altLang="en-US"/>
              <a:t> xác định 2 host kết nối, /32 chỉ một host duy nhất chứ không phải dải </a:t>
            </a:r>
            <a:r>
              <a:rPr lang="vi-VN" altLang="en-US"/>
              <a:t>mạng</a:t>
            </a:r>
            <a:endParaRPr lang="vi-V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US"/>
              <a:t>AH APIs: SPI của AH (Security Parameter Index), xác định gói tin thuộc về luồng dữ liệu </a:t>
            </a:r>
            <a:r>
              <a:rPr lang="vi-VN" altLang="en-US"/>
              <a:t>nào gồm giá trị Inbount và </a:t>
            </a:r>
            <a:r>
              <a:rPr lang="vi-VN" altLang="en-US"/>
              <a:t>Outbount.</a:t>
            </a:r>
            <a:endParaRPr lang="vi-V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AH Transport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021715" y="1273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Bắt và phân tích gói tin trên </a:t>
            </a:r>
            <a:r>
              <a:rPr lang="vi-VN" altLang="en-GB"/>
              <a:t>wireshark</a:t>
            </a:r>
            <a:endParaRPr lang="vi-VN" altLang="en-GB"/>
          </a:p>
        </p:txBody>
      </p:sp>
      <p:sp>
        <p:nvSpPr>
          <p:cNvPr id="6" name="Text Box 5"/>
          <p:cNvSpPr txBox="1"/>
          <p:nvPr/>
        </p:nvSpPr>
        <p:spPr>
          <a:xfrm>
            <a:off x="6473825" y="1551940"/>
            <a:ext cx="553148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Protocol (51): giao thức </a:t>
            </a:r>
            <a:r>
              <a:rPr lang="vi-VN" altLang="en-GB"/>
              <a:t>AH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Next header: giao thức đang dùng bên </a:t>
            </a:r>
            <a:r>
              <a:rPr lang="vi-VN" altLang="en-GB"/>
              <a:t>dưới ICMP (</a:t>
            </a:r>
            <a:r>
              <a:rPr lang="vi-VN" altLang="en-GB"/>
              <a:t>1)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Reserved: chèn thêm 16 bit cho đủ 32 bit, và nếu giao thức này có thêm trường gì mới thì sẽ thay vào trường </a:t>
            </a:r>
            <a:r>
              <a:rPr lang="vi-VN" altLang="en-GB"/>
              <a:t>này.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AH SPI là mã định danh để tìm trong </a:t>
            </a:r>
            <a:r>
              <a:rPr lang="vi-VN" altLang="en-GB"/>
              <a:t>SDA, xác định luồng dữ liệu, để tìm ra các thuật toán mã hóa sử dụng, khóa bí mật để giải </a:t>
            </a:r>
            <a:r>
              <a:rPr lang="vi-VN" altLang="en-GB"/>
              <a:t>mã.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AH Sequence: tăng dần theo từng gói </a:t>
            </a:r>
            <a:r>
              <a:rPr lang="vi-VN" altLang="en-GB"/>
              <a:t>tin 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AH ICV: mã băm toàn bộ gói tin để kiểm tra tính toàn </a:t>
            </a:r>
            <a:r>
              <a:rPr lang="vi-VN" altLang="en-GB"/>
              <a:t>vẹn.</a:t>
            </a:r>
            <a:endParaRPr lang="vi-VN" alt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b="30463"/>
          <a:stretch>
            <a:fillRect/>
          </a:stretch>
        </p:blipFill>
        <p:spPr>
          <a:xfrm>
            <a:off x="369570" y="1642110"/>
            <a:ext cx="6104255" cy="476885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770370" y="5211763"/>
            <a:ext cx="5080000" cy="1198880"/>
          </a:xfrm>
          <a:prstGeom prst="rect">
            <a:avLst/>
          </a:prstGeom>
        </p:spPr>
        <p:txBody>
          <a:bodyPr>
            <a:sp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</a:rPr>
              <a:t>ICV = Hash(IP Header + Payload + Key) (HMAC-SHA1-96).</a:t>
            </a:r>
            <a:endParaRPr b="0" i="0">
              <a:solidFill>
                <a:schemeClr val="tx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b="0" i="0">
                <a:solidFill>
                  <a:schemeClr val="tx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</a:rPr>
              <a:t>-&gt; Chế độ AH Transport: Bảo vệ toàn vẹn, xác thực gói tin</a:t>
            </a:r>
            <a:endParaRPr b="0" i="0">
              <a:solidFill>
                <a:schemeClr val="tx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2. </a:t>
            </a:r>
            <a:r>
              <a:rPr lang="vi-VN" altLang="en-GB" sz="4800"/>
              <a:t>ESP Transport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ESP Transport</a:t>
            </a:r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10" y="1463040"/>
            <a:ext cx="9490710" cy="4187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sym typeface="+mn-ea"/>
              </a:rPr>
              <a:t>ESP </a:t>
            </a:r>
            <a:r>
              <a:rPr lang="en-US" altLang="en-GB">
                <a:sym typeface="+mn-ea"/>
              </a:rPr>
              <a:t>Transport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021715" y="1075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Sửa file IPsec.</a:t>
            </a:r>
            <a:r>
              <a:rPr lang="vi-VN" altLang="en-GB"/>
              <a:t>conf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640" y="2457450"/>
            <a:ext cx="4533265" cy="2527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060" y="2456815"/>
            <a:ext cx="4113530" cy="25279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29640" y="19392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Bên Server </a:t>
            </a:r>
            <a:endParaRPr lang="vi-VN" altLang="en-GB"/>
          </a:p>
        </p:txBody>
      </p:sp>
      <p:sp>
        <p:nvSpPr>
          <p:cNvPr id="8" name="Text Box 7"/>
          <p:cNvSpPr txBox="1"/>
          <p:nvPr/>
        </p:nvSpPr>
        <p:spPr>
          <a:xfrm>
            <a:off x="6671310" y="1958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Bên Client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sym typeface="+mn-ea"/>
              </a:rPr>
              <a:t>ESP </a:t>
            </a:r>
            <a:r>
              <a:rPr lang="en-US" altLang="en-GB">
                <a:sym typeface="+mn-ea"/>
              </a:rPr>
              <a:t>Transport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912495" y="13620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Khởi động lại và kiểm tra trạng </a:t>
            </a:r>
            <a:r>
              <a:rPr lang="vi-VN" altLang="en-GB"/>
              <a:t>thái</a:t>
            </a:r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10" y="1967865"/>
            <a:ext cx="10522585" cy="14611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10" y="4222750"/>
            <a:ext cx="10520045" cy="1480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US">
                <a:sym typeface="+mn-ea"/>
              </a:rPr>
              <a:t>ESP </a:t>
            </a:r>
            <a:r>
              <a:rPr lang="en-US" altLang="en-GB">
                <a:sym typeface="+mn-ea"/>
              </a:rPr>
              <a:t>Transport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912495" y="12744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Bắt và phân tich gói tin trên </a:t>
            </a:r>
            <a:r>
              <a:rPr lang="vi-VN" altLang="en-GB"/>
              <a:t>wireshark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160" y="1907540"/>
            <a:ext cx="6286500" cy="38766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859905" y="1998345"/>
            <a:ext cx="51860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Protocol (50): giao thức </a:t>
            </a:r>
            <a:r>
              <a:rPr lang="vi-VN" altLang="en-GB"/>
              <a:t>ESP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ESP SPI và sequence là phần không bị mã hóa và chức năn</a:t>
            </a:r>
            <a:r>
              <a:rPr lang="vi-VN" altLang="en-GB"/>
              <a:t>g giống ở </a:t>
            </a:r>
            <a:r>
              <a:rPr lang="vi-VN" altLang="en-GB"/>
              <a:t>trên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2. AH </a:t>
            </a:r>
            <a:r>
              <a:rPr lang="vi-VN" altLang="en-GB" sz="4800"/>
              <a:t>Tunnel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AH Tunnel</a:t>
            </a:r>
            <a:endParaRPr lang="en-GB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45" y="1312545"/>
            <a:ext cx="10086975" cy="4533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AH Tunnel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834390" y="14655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Sửa file Ipsec.</a:t>
            </a:r>
            <a:r>
              <a:rPr lang="vi-VN" altLang="en-GB"/>
              <a:t>conf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515870"/>
            <a:ext cx="3039745" cy="18510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23290" y="2147570"/>
            <a:ext cx="300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Bên </a:t>
            </a:r>
            <a:r>
              <a:rPr lang="vi-VN" altLang="en-GB"/>
              <a:t>Server</a:t>
            </a:r>
            <a:endParaRPr lang="vi-VN" alt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355" y="2573655"/>
            <a:ext cx="3293110" cy="181800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888355" y="2016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Bên </a:t>
            </a:r>
            <a:r>
              <a:rPr lang="vi-VN" altLang="en-GB"/>
              <a:t>Client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AH Tunnel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967740" y="1553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Khởi động lại và kiểm tra trạng </a:t>
            </a:r>
            <a:r>
              <a:rPr lang="vi-VN" altLang="en-GB"/>
              <a:t>thái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15" y="2440305"/>
            <a:ext cx="7981950" cy="1190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15" y="4404995"/>
            <a:ext cx="8181975" cy="12096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AH Tunnel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790575" y="1170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Bắt và phân tích gói tin trên </a:t>
            </a:r>
            <a:r>
              <a:rPr lang="vi-VN" altLang="en-GB"/>
              <a:t>wireshark</a:t>
            </a:r>
            <a:endParaRPr lang="vi-VN" altLang="en-GB"/>
          </a:p>
        </p:txBody>
      </p:sp>
      <p:sp>
        <p:nvSpPr>
          <p:cNvPr id="7" name="Text Box 6"/>
          <p:cNvSpPr txBox="1"/>
          <p:nvPr/>
        </p:nvSpPr>
        <p:spPr>
          <a:xfrm>
            <a:off x="6993255" y="1474470"/>
            <a:ext cx="49072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Ta thấy nó bọc thêm một lớp IP </a:t>
            </a:r>
            <a:r>
              <a:rPr lang="vi-VN" altLang="en-GB"/>
              <a:t>mới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 Protocol (51): giao thức AH</a:t>
            </a:r>
            <a:endParaRPr lang="vi-VN" alt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altLang="en-GB"/>
              <a:t>Trong lớp Authentication Header</a:t>
            </a:r>
            <a:endParaRPr lang="vi-VN" altLang="en-GB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altLang="en-GB"/>
              <a:t>Next header: IPIP (4) chế độ Tunnel</a:t>
            </a:r>
            <a:endParaRPr lang="vi-VN" altLang="en-GB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altLang="en-GB"/>
              <a:t>AH SPI</a:t>
            </a:r>
            <a:endParaRPr lang="vi-VN" altLang="en-GB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altLang="en-GB"/>
              <a:t>AH sequence</a:t>
            </a:r>
            <a:endParaRPr lang="vi-VN" altLang="en-GB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altLang="en-GB"/>
              <a:t>AH ICV</a:t>
            </a:r>
            <a:r>
              <a:rPr lang="vi-VN" altLang="en-GB" u="heavy"/>
              <a:t> </a:t>
            </a:r>
            <a:endParaRPr lang="vi-VN" alt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715" y="1635125"/>
            <a:ext cx="6276975" cy="484822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230745" y="42456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ICV = </a:t>
            </a:r>
            <a:r>
              <a:rPr lang="en-US" altLang="en-GB"/>
              <a:t>Hash (IP Header + Payload + Key)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62685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2. ESP </a:t>
            </a:r>
            <a:r>
              <a:rPr lang="vi-VN" altLang="en-GB" sz="4800"/>
              <a:t>Tunnel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ESP Tunnel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01090" y="1447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Sửa file IPsec.</a:t>
            </a:r>
            <a:r>
              <a:rPr lang="vi-VN" altLang="en-GB"/>
              <a:t>conf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090" y="2377440"/>
            <a:ext cx="3717290" cy="21024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540" y="2377440"/>
            <a:ext cx="3730625" cy="20885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136650" y="2051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Bên </a:t>
            </a:r>
            <a:r>
              <a:rPr lang="vi-VN" altLang="en-GB"/>
              <a:t>Server</a:t>
            </a:r>
            <a:endParaRPr lang="vi-VN" altLang="en-GB"/>
          </a:p>
        </p:txBody>
      </p:sp>
      <p:sp>
        <p:nvSpPr>
          <p:cNvPr id="8" name="Text Box 7"/>
          <p:cNvSpPr txBox="1"/>
          <p:nvPr/>
        </p:nvSpPr>
        <p:spPr>
          <a:xfrm>
            <a:off x="6479540" y="2051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Bên </a:t>
            </a:r>
            <a:r>
              <a:rPr lang="vi-VN" altLang="en-GB"/>
              <a:t>Client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ESP Tunnel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08075" y="12211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Khởi động lại và kiểm tra trạng </a:t>
            </a:r>
            <a:r>
              <a:rPr lang="vi-VN" altLang="en-GB"/>
              <a:t>thái</a:t>
            </a:r>
            <a:endParaRPr lang="vi-VN" alt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220" y="1789430"/>
            <a:ext cx="10213975" cy="22053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220" y="4427855"/>
            <a:ext cx="9735185" cy="2101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ESP Tunnel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89990" y="15360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Bắt và phân tích gói tin trên </a:t>
            </a:r>
            <a:r>
              <a:rPr lang="vi-VN" altLang="en-GB"/>
              <a:t>wireshark</a:t>
            </a:r>
            <a:endParaRPr lang="vi-VN" alt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995" y="2238375"/>
            <a:ext cx="5000625" cy="22383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510655" y="241554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/>
              <a:t>Protocol (50): giao thức </a:t>
            </a:r>
            <a:r>
              <a:rPr lang="vi-VN" altLang="en-GB"/>
              <a:t>ESP</a:t>
            </a:r>
            <a:endParaRPr lang="vi-VN" altLang="en-GB"/>
          </a:p>
          <a:p>
            <a:r>
              <a:rPr lang="vi-VN" altLang="en-GB"/>
              <a:t>ESP </a:t>
            </a:r>
            <a:r>
              <a:rPr lang="vi-VN" altLang="en-GB"/>
              <a:t>SPI</a:t>
            </a:r>
            <a:endParaRPr lang="vi-VN" altLang="en-GB"/>
          </a:p>
          <a:p>
            <a:r>
              <a:rPr lang="vi-VN" altLang="en-GB"/>
              <a:t>ESP </a:t>
            </a:r>
            <a:r>
              <a:rPr lang="vi-VN" altLang="en-GB"/>
              <a:t>Sequence</a:t>
            </a:r>
            <a:endParaRPr lang="vi-VN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2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3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4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5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6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7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8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9.xml><?xml version="1.0" encoding="utf-8"?>
<p:tagLst xmlns:p="http://schemas.openxmlformats.org/presentationml/2006/main">
  <p:tag name="KSO_WM_DIAGRAM_VIRTUALLY_FRAME" val="{&quot;height&quot;:359.6807086614173,&quot;left&quot;:299.082125984252,&quot;top&quot;:76.28503937007875,&quot;width&quot;:659.1666929133859}"/>
</p:tagLst>
</file>

<file path=ppt/tags/tag10.xml><?xml version="1.0" encoding="utf-8"?>
<p:tagLst xmlns:p="http://schemas.openxmlformats.org/presentationml/2006/main">
  <p:tag name="KSO_WM_DIAGRAM_VIRTUALLY_FRAME" val="{&quot;height&quot;:353.28070866141735,&quot;left&quot;:299.082125984252,&quot;top&quot;:76.28503937007875,&quot;width&quot;:659.1666929133859}"/>
</p:tagLst>
</file>

<file path=ppt/tags/tag11.xml><?xml version="1.0" encoding="utf-8"?>
<p:tagLst xmlns:p="http://schemas.openxmlformats.org/presentationml/2006/main">
  <p:tag name="KSO_WM_DIAGRAM_VIRTUALLY_FRAME" val="{&quot;height&quot;:353.28070866141735,&quot;left&quot;:299.082125984252,&quot;top&quot;:76.28503937007875,&quot;width&quot;:659.1666929133859}"/>
</p:tagLst>
</file>

<file path=ppt/tags/tag12.xml><?xml version="1.0" encoding="utf-8"?>
<p:tagLst xmlns:p="http://schemas.openxmlformats.org/presentationml/2006/main">
  <p:tag name="KSO_WM_DIAGRAM_VIRTUALLY_FRAME" val="{&quot;height&quot;:353.28070866141735,&quot;left&quot;:299.082125984252,&quot;top&quot;:76.28503937007875,&quot;width&quot;:659.1666929133859}"/>
</p:tagLst>
</file>

<file path=ppt/tags/tag13.xml><?xml version="1.0" encoding="utf-8"?>
<p:tagLst xmlns:p="http://schemas.openxmlformats.org/presentationml/2006/main">
  <p:tag name="KSO_WM_DIAGRAM_VIRTUALLY_FRAME" val="{&quot;height&quot;:353.28070866141735,&quot;left&quot;:299.082125984252,&quot;top&quot;:76.28503937007875,&quot;width&quot;:659.1666929133859}"/>
</p:tagLst>
</file>

<file path=ppt/tags/tag14.xml><?xml version="1.0" encoding="utf-8"?>
<p:tagLst xmlns:p="http://schemas.openxmlformats.org/presentationml/2006/main">
  <p:tag name="KSO_WM_DIAGRAM_VIRTUALLY_FRAME" val="{&quot;height&quot;:353.28070866141735,&quot;left&quot;:299.082125984252,&quot;top&quot;:76.28503937007875,&quot;width&quot;:659.1666929133859}"/>
</p:tagLst>
</file>

<file path=ppt/tags/tag15.xml><?xml version="1.0" encoding="utf-8"?>
<p:tagLst xmlns:p="http://schemas.openxmlformats.org/presentationml/2006/main">
  <p:tag name="KSO_WM_DIAGRAM_VIRTUALLY_FRAME" val="{&quot;height&quot;:353.28070866141735,&quot;left&quot;:299.082125984252,&quot;top&quot;:76.28503937007875,&quot;width&quot;:659.166692913385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2683</Words>
  <Application>WPS Presentation</Application>
  <PresentationFormat>Widescreen</PresentationFormat>
  <Paragraphs>159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SimSun</vt:lpstr>
      <vt:lpstr>Wingdings</vt:lpstr>
      <vt:lpstr>Calibri</vt:lpstr>
      <vt:lpstr>Arial</vt:lpstr>
      <vt:lpstr>Times New Roman</vt:lpstr>
      <vt:lpstr>Constantia</vt:lpstr>
      <vt:lpstr>Montserrat</vt:lpstr>
      <vt:lpstr>Segoe Print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Thiết lập chung</vt:lpstr>
      <vt:lpstr>Thiết lập chung</vt:lpstr>
      <vt:lpstr>PowerPoint 演示文稿</vt:lpstr>
      <vt:lpstr>AH Transport</vt:lpstr>
      <vt:lpstr>AH Transport</vt:lpstr>
      <vt:lpstr>AH Transport</vt:lpstr>
      <vt:lpstr>AH Transport</vt:lpstr>
      <vt:lpstr>PowerPoint 演示文稿</vt:lpstr>
      <vt:lpstr>ESP Transport</vt:lpstr>
      <vt:lpstr>ESP Transport</vt:lpstr>
      <vt:lpstr>ESP Transport</vt:lpstr>
      <vt:lpstr>ESP Transport</vt:lpstr>
      <vt:lpstr>PowerPoint 演示文稿</vt:lpstr>
      <vt:lpstr>AH Tunnel</vt:lpstr>
      <vt:lpstr>AH Tunnel</vt:lpstr>
      <vt:lpstr>AH Tunnel</vt:lpstr>
      <vt:lpstr>AH Tunnel</vt:lpstr>
      <vt:lpstr>PowerPoint 演示文稿</vt:lpstr>
      <vt:lpstr>ESP Tunnel</vt:lpstr>
      <vt:lpstr>ESP Tunnel</vt:lpstr>
      <vt:lpstr>ESP Tunnel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Phong Phan Thế</cp:lastModifiedBy>
  <cp:revision>6</cp:revision>
  <dcterms:created xsi:type="dcterms:W3CDTF">2025-07-23T00:59:00Z</dcterms:created>
  <dcterms:modified xsi:type="dcterms:W3CDTF">2026-06-12T09:45:56Z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44894BBCF8414552BBA94C6E3AA227FD_11</vt:lpwstr>
  </property>
  <property fmtid="{D5CDD505-2E9C-101B-9397-08002B2CF9AE}" pid="3" name="KSOProductBuildVer">
    <vt:lpwstr>2057-12.2.0.23202</vt:lpwstr>
  </property>
</Properties>
</file>