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9" r:id="rId5"/>
    <p:sldId id="260" r:id="rId6"/>
    <p:sldId id="263" r:id="rId7"/>
    <p:sldId id="262" r:id="rId8"/>
    <p:sldId id="264" r:id="rId9"/>
    <p:sldId id="281" r:id="rId10"/>
    <p:sldId id="265" r:id="rId11"/>
    <p:sldId id="266" r:id="rId12"/>
    <p:sldId id="267" r:id="rId13"/>
    <p:sldId id="268" r:id="rId14"/>
    <p:sldId id="269" r:id="rId15"/>
    <p:sldId id="270" r:id="rId16"/>
    <p:sldId id="271" r:id="rId17"/>
    <p:sldId id="272" r:id="rId18"/>
    <p:sldId id="273" r:id="rId19"/>
    <p:sldId id="275" r:id="rId20"/>
    <p:sldId id="277" r:id="rId21"/>
    <p:sldId id="276" r:id="rId22"/>
    <p:sldId id="278" r:id="rId23"/>
    <p:sldId id="279" r:id="rId24"/>
    <p:sldId id="28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2"/>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9"/>
        <p:cNvGrpSpPr/>
        <p:nvPr/>
      </p:nvGrpSpPr>
      <p:grpSpPr>
        <a:xfrm>
          <a:off x="0" y="0"/>
          <a:ext cx="0" cy="0"/>
          <a:chOff x="0" y="0"/>
          <a:chExt cx="0" cy="0"/>
        </a:xfrm>
      </p:grpSpPr>
      <p:sp>
        <p:nvSpPr>
          <p:cNvPr id="140" name="Google Shape;14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8" name="Google Shape;14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lide 1">
  <p:cSld name="Slide 1">
    <p:spTree>
      <p:nvGrpSpPr>
        <p:cNvPr id="1" name="Shape 13"/>
        <p:cNvGrpSpPr/>
        <p:nvPr/>
      </p:nvGrpSpPr>
      <p:grpSpPr>
        <a:xfrm>
          <a:off x="0" y="0"/>
          <a:ext cx="0" cy="0"/>
          <a:chOff x="0" y="0"/>
          <a:chExt cx="0" cy="0"/>
        </a:xfrm>
      </p:grpSpPr>
      <p:pic>
        <p:nvPicPr>
          <p:cNvPr id="14" name="Google Shape;14;p29"/>
          <p:cNvPicPr preferRelativeResize="0"/>
          <p:nvPr/>
        </p:nvPicPr>
        <p:blipFill rotWithShape="1">
          <a:blip r:embed="rId2"/>
          <a:srcRect b="15749"/>
          <a:stretch>
            <a:fillRect/>
          </a:stretch>
        </p:blipFill>
        <p:spPr>
          <a:xfrm>
            <a:off x="7042172" y="2937164"/>
            <a:ext cx="5149827" cy="3920836"/>
          </a:xfrm>
          <a:prstGeom prst="rect">
            <a:avLst/>
          </a:prstGeom>
          <a:noFill/>
          <a:ln>
            <a:noFill/>
          </a:ln>
        </p:spPr>
      </p:pic>
      <p:pic>
        <p:nvPicPr>
          <p:cNvPr id="15" name="Google Shape;15;p29"/>
          <p:cNvPicPr preferRelativeResize="0"/>
          <p:nvPr/>
        </p:nvPicPr>
        <p:blipFill rotWithShape="1">
          <a:blip r:embed="rId3"/>
          <a:srcRect/>
          <a:stretch>
            <a:fillRect/>
          </a:stretch>
        </p:blipFill>
        <p:spPr>
          <a:xfrm>
            <a:off x="8331199" y="347825"/>
            <a:ext cx="2828693" cy="414259"/>
          </a:xfrm>
          <a:prstGeom prst="rect">
            <a:avLst/>
          </a:prstGeom>
          <a:noFill/>
          <a:ln>
            <a:noFill/>
          </a:ln>
        </p:spPr>
      </p:pic>
      <p:sp>
        <p:nvSpPr>
          <p:cNvPr id="16" name="Google Shape;16;p29"/>
          <p:cNvSpPr txBox="1"/>
          <p:nvPr/>
        </p:nvSpPr>
        <p:spPr>
          <a:xfrm>
            <a:off x="42393" y="6456315"/>
            <a:ext cx="12192000" cy="3054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400" b="0" i="1">
              <a:solidFill>
                <a:srgbClr val="C00000"/>
              </a:solidFill>
              <a:latin typeface="Calibri" panose="020F0502020204030204"/>
              <a:ea typeface="Calibri" panose="020F0502020204030204"/>
              <a:cs typeface="Calibri" panose="020F0502020204030204"/>
              <a:sym typeface="Calibri" panose="020F0502020204030204"/>
            </a:endParaRPr>
          </a:p>
        </p:txBody>
      </p:sp>
      <p:sp>
        <p:nvSpPr>
          <p:cNvPr id="17" name="Google Shape;17;p29"/>
          <p:cNvSpPr txBox="1"/>
          <p:nvPr/>
        </p:nvSpPr>
        <p:spPr>
          <a:xfrm>
            <a:off x="4782064" y="6530109"/>
            <a:ext cx="7367543" cy="30543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endParaRPr sz="1400" b="0" i="1" dirty="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8" name="Google Shape;18;p29"/>
          <p:cNvPicPr preferRelativeResize="0"/>
          <p:nvPr/>
        </p:nvPicPr>
        <p:blipFill rotWithShape="1">
          <a:blip r:embed="rId4"/>
          <a:srcRect l="8202" t="3636" r="9277" b="4781"/>
          <a:stretch>
            <a:fillRect/>
          </a:stretch>
        </p:blipFill>
        <p:spPr>
          <a:xfrm>
            <a:off x="11244125" y="62234"/>
            <a:ext cx="824168" cy="91275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Slide 2">
  <p:cSld name="Slide 2">
    <p:spTree>
      <p:nvGrpSpPr>
        <p:cNvPr id="1" name="Shape 19"/>
        <p:cNvGrpSpPr/>
        <p:nvPr/>
      </p:nvGrpSpPr>
      <p:grpSpPr>
        <a:xfrm>
          <a:off x="0" y="0"/>
          <a:ext cx="0" cy="0"/>
          <a:chOff x="0" y="0"/>
          <a:chExt cx="0" cy="0"/>
        </a:xfrm>
      </p:grpSpPr>
      <p:pic>
        <p:nvPicPr>
          <p:cNvPr id="20" name="Google Shape;20;p30"/>
          <p:cNvPicPr preferRelativeResize="0"/>
          <p:nvPr/>
        </p:nvPicPr>
        <p:blipFill rotWithShape="1">
          <a:blip r:embed="rId2"/>
          <a:srcRect/>
          <a:stretch>
            <a:fillRect/>
          </a:stretch>
        </p:blipFill>
        <p:spPr>
          <a:xfrm flipH="1">
            <a:off x="0" y="188415"/>
            <a:ext cx="4463844" cy="6669586"/>
          </a:xfrm>
          <a:prstGeom prst="rect">
            <a:avLst/>
          </a:prstGeom>
          <a:noFill/>
          <a:ln>
            <a:noFill/>
          </a:ln>
        </p:spPr>
      </p:pic>
      <p:grpSp>
        <p:nvGrpSpPr>
          <p:cNvPr id="21" name="Google Shape;21;p30"/>
          <p:cNvGrpSpPr/>
          <p:nvPr/>
        </p:nvGrpSpPr>
        <p:grpSpPr>
          <a:xfrm>
            <a:off x="8256539" y="30869"/>
            <a:ext cx="3846759" cy="1080603"/>
            <a:chOff x="8308168" y="-57704"/>
            <a:chExt cx="3846759" cy="1080603"/>
          </a:xfrm>
        </p:grpSpPr>
        <p:pic>
          <p:nvPicPr>
            <p:cNvPr id="22" name="Google Shape;22;p30"/>
            <p:cNvPicPr preferRelativeResize="0"/>
            <p:nvPr/>
          </p:nvPicPr>
          <p:blipFill rotWithShape="1">
            <a:blip r:embed="rId3"/>
            <a:srcRect l="5460" r="6685"/>
            <a:stretch>
              <a:fillRect/>
            </a:stretch>
          </p:blipFill>
          <p:spPr>
            <a:xfrm>
              <a:off x="11203582" y="-57704"/>
              <a:ext cx="951345" cy="1080603"/>
            </a:xfrm>
            <a:prstGeom prst="rect">
              <a:avLst/>
            </a:prstGeom>
            <a:noFill/>
            <a:ln>
              <a:noFill/>
            </a:ln>
          </p:spPr>
        </p:pic>
        <p:pic>
          <p:nvPicPr>
            <p:cNvPr id="23" name="Google Shape;23;p30"/>
            <p:cNvPicPr preferRelativeResize="0"/>
            <p:nvPr/>
          </p:nvPicPr>
          <p:blipFill rotWithShape="1">
            <a:blip r:embed="rId4"/>
            <a:srcRect/>
            <a:stretch>
              <a:fillRect/>
            </a:stretch>
          </p:blipFill>
          <p:spPr>
            <a:xfrm>
              <a:off x="8308168" y="265786"/>
              <a:ext cx="2877160" cy="433625"/>
            </a:xfrm>
            <a:prstGeom prst="rect">
              <a:avLst/>
            </a:prstGeom>
            <a:noFill/>
            <a:ln>
              <a:noFill/>
            </a:ln>
          </p:spPr>
        </p:pic>
      </p:grpSp>
      <p:sp>
        <p:nvSpPr>
          <p:cNvPr id="24" name="Google Shape;24;p30"/>
          <p:cNvSpPr txBox="1"/>
          <p:nvPr/>
        </p:nvSpPr>
        <p:spPr>
          <a:xfrm>
            <a:off x="0" y="6530109"/>
            <a:ext cx="12192000" cy="30543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C00000"/>
              </a:buClr>
              <a:buSzPts val="1400"/>
              <a:buFont typeface="Calibri" panose="020F0502020204030204"/>
              <a:buNone/>
            </a:pPr>
            <a:endParaRPr sz="1400" b="0" i="1" dirty="0">
              <a:solidFill>
                <a:srgbClr val="C00000"/>
              </a:solidFill>
              <a:latin typeface="Calibri" panose="020F0502020204030204"/>
              <a:ea typeface="Calibri" panose="020F0502020204030204"/>
              <a:cs typeface="Calibri" panose="020F0502020204030204"/>
              <a:sym typeface="Calibri" panose="020F0502020204030204"/>
            </a:endParaRPr>
          </a:p>
        </p:txBody>
      </p:sp>
      <p:sp>
        <p:nvSpPr>
          <p:cNvPr id="25" name="Google Shape;25;p30"/>
          <p:cNvSpPr txBox="1"/>
          <p:nvPr/>
        </p:nvSpPr>
        <p:spPr>
          <a:xfrm>
            <a:off x="0" y="6530109"/>
            <a:ext cx="7451124" cy="3054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400" b="0" i="1" dirty="0">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5">
  <p:cSld name="Slide 5">
    <p:spTree>
      <p:nvGrpSpPr>
        <p:cNvPr id="1" name="Shape 26"/>
        <p:cNvGrpSpPr/>
        <p:nvPr/>
      </p:nvGrpSpPr>
      <p:grpSpPr>
        <a:xfrm>
          <a:off x="0" y="0"/>
          <a:ext cx="0" cy="0"/>
          <a:chOff x="0" y="0"/>
          <a:chExt cx="0" cy="0"/>
        </a:xfrm>
      </p:grpSpPr>
      <p:sp>
        <p:nvSpPr>
          <p:cNvPr id="27" name="Google Shape;27;p31"/>
          <p:cNvSpPr>
            <a:spLocks noGrp="1"/>
          </p:cNvSpPr>
          <p:nvPr>
            <p:ph type="pic" idx="2"/>
          </p:nvPr>
        </p:nvSpPr>
        <p:spPr>
          <a:xfrm>
            <a:off x="1600201" y="2085976"/>
            <a:ext cx="3971925" cy="2162175"/>
          </a:xfrm>
          <a:prstGeom prst="rect">
            <a:avLst/>
          </a:prstGeom>
          <a:noFill/>
          <a:ln>
            <a:noFill/>
          </a:ln>
        </p:spPr>
        <p:txBody>
          <a:bodyPr/>
          <a:lstStyle/>
          <a:p>
            <a:endParaRPr lang="en-US"/>
          </a:p>
        </p:txBody>
      </p:sp>
      <p:sp>
        <p:nvSpPr>
          <p:cNvPr id="28" name="Google Shape;28;p3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l" rtl="0">
              <a:spcBef>
                <a:spcPts val="0"/>
              </a:spcBef>
              <a:buNone/>
              <a:defRPr sz="18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l" rtl="0">
              <a:spcBef>
                <a:spcPts val="0"/>
              </a:spcBef>
              <a:buNone/>
              <a:defRPr sz="18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l" rtl="0">
              <a:spcBef>
                <a:spcPts val="0"/>
              </a:spcBef>
              <a:buNone/>
              <a:defRPr sz="18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l" rtl="0">
              <a:spcBef>
                <a:spcPts val="0"/>
              </a:spcBef>
              <a:buNone/>
              <a:defRPr sz="18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l" rtl="0">
              <a:spcBef>
                <a:spcPts val="0"/>
              </a:spcBef>
              <a:buNone/>
              <a:defRPr sz="18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l" rtl="0">
              <a:spcBef>
                <a:spcPts val="0"/>
              </a:spcBef>
              <a:buNone/>
              <a:defRPr sz="18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l" rtl="0">
              <a:spcBef>
                <a:spcPts val="0"/>
              </a:spcBef>
              <a:buNone/>
              <a:defRPr sz="18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l" rtl="0">
              <a:spcBef>
                <a:spcPts val="0"/>
              </a:spcBef>
              <a:buNone/>
              <a:defRPr sz="18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p>
        </p:txBody>
      </p:sp>
      <p:sp>
        <p:nvSpPr>
          <p:cNvPr id="29" name="Google Shape;29;p31"/>
          <p:cNvSpPr txBox="1">
            <a:spLocks noGrp="1"/>
          </p:cNvSpPr>
          <p:nvPr>
            <p:ph type="title"/>
          </p:nvPr>
        </p:nvSpPr>
        <p:spPr>
          <a:xfrm>
            <a:off x="1108364" y="175484"/>
            <a:ext cx="11016586" cy="711205"/>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4E6F9B"/>
              </a:buClr>
              <a:buSzPts val="2800"/>
              <a:buFont typeface="Arial" panose="020B0604020202020204"/>
              <a:buNone/>
              <a:defRPr sz="4400" b="1" i="0" u="none" strike="noStrike" cap="none">
                <a:solidFill>
                  <a:srgbClr val="595959"/>
                </a:solidFill>
                <a:latin typeface="Calibri" panose="020F0502020204030204"/>
                <a:ea typeface="Calibri" panose="020F0502020204030204"/>
                <a:cs typeface="Calibri" panose="020F0502020204030204"/>
                <a:sym typeface="Calibri" panose="020F0502020204030204"/>
              </a:defRPr>
            </a:lvl1pPr>
            <a:lvl2pPr lvl="1" rtl="0">
              <a:spcBef>
                <a:spcPts val="0"/>
              </a:spcBef>
              <a:spcAft>
                <a:spcPts val="0"/>
              </a:spcAft>
              <a:buClr>
                <a:srgbClr val="4E6F9B"/>
              </a:buClr>
              <a:buSzPts val="2800"/>
              <a:buFont typeface="Arial" panose="020B0604020202020204"/>
              <a:buNone/>
              <a:defRPr sz="1800">
                <a:solidFill>
                  <a:srgbClr val="4E6F9B"/>
                </a:solidFill>
                <a:latin typeface="Arial" panose="020B0604020202020204"/>
                <a:ea typeface="Arial" panose="020B0604020202020204"/>
                <a:cs typeface="Arial" panose="020B0604020202020204"/>
                <a:sym typeface="Arial" panose="020B0604020202020204"/>
              </a:defRPr>
            </a:lvl2pPr>
            <a:lvl3pPr lvl="2" rtl="0">
              <a:spcBef>
                <a:spcPts val="0"/>
              </a:spcBef>
              <a:spcAft>
                <a:spcPts val="0"/>
              </a:spcAft>
              <a:buClr>
                <a:srgbClr val="4E6F9B"/>
              </a:buClr>
              <a:buSzPts val="2800"/>
              <a:buFont typeface="Arial" panose="020B0604020202020204"/>
              <a:buNone/>
              <a:defRPr sz="1800">
                <a:solidFill>
                  <a:srgbClr val="4E6F9B"/>
                </a:solidFill>
                <a:latin typeface="Arial" panose="020B0604020202020204"/>
                <a:ea typeface="Arial" panose="020B0604020202020204"/>
                <a:cs typeface="Arial" panose="020B0604020202020204"/>
                <a:sym typeface="Arial" panose="020B0604020202020204"/>
              </a:defRPr>
            </a:lvl3pPr>
            <a:lvl4pPr lvl="3" rtl="0">
              <a:spcBef>
                <a:spcPts val="0"/>
              </a:spcBef>
              <a:spcAft>
                <a:spcPts val="0"/>
              </a:spcAft>
              <a:buClr>
                <a:srgbClr val="4E6F9B"/>
              </a:buClr>
              <a:buSzPts val="2800"/>
              <a:buFont typeface="Arial" panose="020B0604020202020204"/>
              <a:buNone/>
              <a:defRPr sz="1800">
                <a:solidFill>
                  <a:srgbClr val="4E6F9B"/>
                </a:solidFill>
                <a:latin typeface="Arial" panose="020B0604020202020204"/>
                <a:ea typeface="Arial" panose="020B0604020202020204"/>
                <a:cs typeface="Arial" panose="020B0604020202020204"/>
                <a:sym typeface="Arial" panose="020B0604020202020204"/>
              </a:defRPr>
            </a:lvl4pPr>
            <a:lvl5pPr lvl="4" rtl="0">
              <a:spcBef>
                <a:spcPts val="0"/>
              </a:spcBef>
              <a:spcAft>
                <a:spcPts val="0"/>
              </a:spcAft>
              <a:buClr>
                <a:srgbClr val="4E6F9B"/>
              </a:buClr>
              <a:buSzPts val="2800"/>
              <a:buFont typeface="Arial" panose="020B0604020202020204"/>
              <a:buNone/>
              <a:defRPr sz="1800">
                <a:solidFill>
                  <a:srgbClr val="4E6F9B"/>
                </a:solidFill>
                <a:latin typeface="Arial" panose="020B0604020202020204"/>
                <a:ea typeface="Arial" panose="020B0604020202020204"/>
                <a:cs typeface="Arial" panose="020B0604020202020204"/>
                <a:sym typeface="Arial" panose="020B0604020202020204"/>
              </a:defRPr>
            </a:lvl5pPr>
            <a:lvl6pPr lvl="5" rtl="0">
              <a:spcBef>
                <a:spcPts val="0"/>
              </a:spcBef>
              <a:spcAft>
                <a:spcPts val="0"/>
              </a:spcAft>
              <a:buClr>
                <a:srgbClr val="4E6F9B"/>
              </a:buClr>
              <a:buSzPts val="2800"/>
              <a:buFont typeface="Arial" panose="020B0604020202020204"/>
              <a:buNone/>
              <a:defRPr sz="1800">
                <a:solidFill>
                  <a:srgbClr val="4E6F9B"/>
                </a:solidFill>
                <a:latin typeface="Arial" panose="020B0604020202020204"/>
                <a:ea typeface="Arial" panose="020B0604020202020204"/>
                <a:cs typeface="Arial" panose="020B0604020202020204"/>
                <a:sym typeface="Arial" panose="020B0604020202020204"/>
              </a:defRPr>
            </a:lvl6pPr>
            <a:lvl7pPr lvl="6" rtl="0">
              <a:spcBef>
                <a:spcPts val="0"/>
              </a:spcBef>
              <a:spcAft>
                <a:spcPts val="0"/>
              </a:spcAft>
              <a:buClr>
                <a:srgbClr val="4E6F9B"/>
              </a:buClr>
              <a:buSzPts val="2800"/>
              <a:buFont typeface="Arial" panose="020B0604020202020204"/>
              <a:buNone/>
              <a:defRPr sz="1800">
                <a:solidFill>
                  <a:srgbClr val="4E6F9B"/>
                </a:solidFill>
                <a:latin typeface="Arial" panose="020B0604020202020204"/>
                <a:ea typeface="Arial" panose="020B0604020202020204"/>
                <a:cs typeface="Arial" panose="020B0604020202020204"/>
                <a:sym typeface="Arial" panose="020B0604020202020204"/>
              </a:defRPr>
            </a:lvl7pPr>
            <a:lvl8pPr lvl="7" rtl="0">
              <a:spcBef>
                <a:spcPts val="0"/>
              </a:spcBef>
              <a:spcAft>
                <a:spcPts val="0"/>
              </a:spcAft>
              <a:buClr>
                <a:srgbClr val="4E6F9B"/>
              </a:buClr>
              <a:buSzPts val="2800"/>
              <a:buFont typeface="Arial" panose="020B0604020202020204"/>
              <a:buNone/>
              <a:defRPr sz="1800">
                <a:solidFill>
                  <a:srgbClr val="4E6F9B"/>
                </a:solidFill>
                <a:latin typeface="Arial" panose="020B0604020202020204"/>
                <a:ea typeface="Arial" panose="020B0604020202020204"/>
                <a:cs typeface="Arial" panose="020B0604020202020204"/>
                <a:sym typeface="Arial" panose="020B0604020202020204"/>
              </a:defRPr>
            </a:lvl8pPr>
            <a:lvl9pPr lvl="8" rtl="0">
              <a:spcBef>
                <a:spcPts val="0"/>
              </a:spcBef>
              <a:spcAft>
                <a:spcPts val="0"/>
              </a:spcAft>
              <a:buClr>
                <a:srgbClr val="4E6F9B"/>
              </a:buClr>
              <a:buSzPts val="2800"/>
              <a:buFont typeface="Arial" panose="020B0604020202020204"/>
              <a:buNone/>
              <a:defRPr sz="1800">
                <a:solidFill>
                  <a:srgbClr val="4E6F9B"/>
                </a:solidFill>
                <a:latin typeface="Arial" panose="020B0604020202020204"/>
                <a:ea typeface="Arial" panose="020B0604020202020204"/>
                <a:cs typeface="Arial" panose="020B0604020202020204"/>
                <a:sym typeface="Arial" panose="020B0604020202020204"/>
              </a:defRPr>
            </a:lvl9pPr>
          </a:lstStyle>
          <a:p/>
        </p:txBody>
      </p:sp>
      <p:sp>
        <p:nvSpPr>
          <p:cNvPr id="30" name="Google Shape;30;p31"/>
          <p:cNvSpPr txBox="1"/>
          <p:nvPr/>
        </p:nvSpPr>
        <p:spPr>
          <a:xfrm>
            <a:off x="42392" y="6507831"/>
            <a:ext cx="4774052" cy="30543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400" b="0" i="1" dirty="0">
              <a:solidFill>
                <a:srgbClr val="C00000"/>
              </a:solidFill>
              <a:latin typeface="Calibri" panose="020F0502020204030204"/>
              <a:ea typeface="Calibri" panose="020F0502020204030204"/>
              <a:cs typeface="Calibri" panose="020F0502020204030204"/>
              <a:sym typeface="Calibri" panose="020F0502020204030204"/>
            </a:endParaRPr>
          </a:p>
        </p:txBody>
      </p:sp>
      <p:pic>
        <p:nvPicPr>
          <p:cNvPr id="31" name="Google Shape;31;p31"/>
          <p:cNvPicPr preferRelativeResize="0"/>
          <p:nvPr/>
        </p:nvPicPr>
        <p:blipFill rotWithShape="1">
          <a:blip r:embed="rId2"/>
          <a:srcRect l="5089" t="2190" r="3980" b="2133"/>
          <a:stretch>
            <a:fillRect/>
          </a:stretch>
        </p:blipFill>
        <p:spPr>
          <a:xfrm>
            <a:off x="36558" y="0"/>
            <a:ext cx="1071806" cy="1125394"/>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3.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7.png"/><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0.png"/><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3.png"/><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6.png"/><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8.png"/><Relationship Id="rId1"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
          <p:cNvSpPr txBox="1"/>
          <p:nvPr/>
        </p:nvSpPr>
        <p:spPr>
          <a:xfrm>
            <a:off x="1238250" y="5160010"/>
            <a:ext cx="5573395" cy="976630"/>
          </a:xfrm>
          <a:prstGeom prst="rect">
            <a:avLst/>
          </a:prstGeom>
          <a:noFill/>
          <a:ln>
            <a:noFill/>
          </a:ln>
        </p:spPr>
        <p:txBody>
          <a:bodyPr spcFirstLastPara="1" wrap="square" lIns="91425" tIns="45700" rIns="91425" bIns="45700" anchor="t" anchorCtr="0">
            <a:noAutofit/>
          </a:bodyPr>
          <a:lstStyle/>
          <a:p>
            <a:pPr marL="152400" marR="0" lvl="0" indent="0" algn="l" rtl="0">
              <a:lnSpc>
                <a:spcPct val="90000"/>
              </a:lnSpc>
              <a:spcBef>
                <a:spcPts val="1000"/>
              </a:spcBef>
              <a:spcAft>
                <a:spcPts val="0"/>
              </a:spcAft>
              <a:buClr>
                <a:schemeClr val="dk1"/>
              </a:buClr>
              <a:buSzPts val="2000"/>
              <a:buFont typeface="Arial" panose="020B0604020202020204"/>
              <a:buNone/>
            </a:pPr>
            <a:r>
              <a:rPr lang="vi-VN" sz="20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Sinh viên thực </a:t>
            </a:r>
            <a:r>
              <a:rPr lang="vi-VN" sz="20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hiện</a:t>
            </a:r>
            <a:endParaRPr lang="vi-VN" sz="20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52400" marR="0" lvl="0" indent="0" algn="l" rtl="0">
              <a:lnSpc>
                <a:spcPct val="90000"/>
              </a:lnSpc>
              <a:spcBef>
                <a:spcPts val="1000"/>
              </a:spcBef>
              <a:spcAft>
                <a:spcPts val="0"/>
              </a:spcAft>
              <a:buClr>
                <a:schemeClr val="dk1"/>
              </a:buClr>
              <a:buSzPts val="2000"/>
              <a:buFont typeface="Arial" panose="020B0604020202020204"/>
              <a:buNone/>
            </a:pPr>
            <a:r>
              <a:rPr lang="vi-VN" sz="20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Phan Thế Phong - </a:t>
            </a:r>
            <a:r>
              <a:rPr lang="vi-VN" sz="20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AT200345</a:t>
            </a:r>
            <a:endParaRPr lang="vi-VN" sz="20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4" name="Google Shape;144;p1"/>
          <p:cNvSpPr txBox="1"/>
          <p:nvPr/>
        </p:nvSpPr>
        <p:spPr>
          <a:xfrm>
            <a:off x="5638800" y="2991970"/>
            <a:ext cx="914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2"/>
          <p:cNvSpPr txBox="1"/>
          <p:nvPr/>
        </p:nvSpPr>
        <p:spPr>
          <a:xfrm>
            <a:off x="-76201" y="1513830"/>
            <a:ext cx="12344401" cy="645160"/>
          </a:xfrm>
          <a:prstGeom prst="rect">
            <a:avLst/>
          </a:prstGeom>
          <a:noFill/>
        </p:spPr>
        <p:txBody>
          <a:bodyPr wrap="square">
            <a:spAutoFit/>
          </a:bodyPr>
          <a:lstStyle/>
          <a:p>
            <a:pPr algn="ctr"/>
            <a:r>
              <a:rPr lang="vi-VN" altLang="en-US" sz="3600" b="1" dirty="0">
                <a:solidFill>
                  <a:schemeClr val="dk1"/>
                </a:solidFill>
                <a:latin typeface="Constantia" panose="02030602050306030303"/>
              </a:rPr>
              <a:t>Triển khai giao thức Kerberos</a:t>
            </a:r>
            <a:endParaRPr lang="vi-VN" altLang="en-US" sz="3600" b="1" dirty="0">
              <a:solidFill>
                <a:schemeClr val="dk1"/>
              </a:solidFill>
              <a:latin typeface="Constantia" panose="02030602050306030303"/>
            </a:endParaRP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p:nvPr/>
        </p:nvSpPr>
        <p:spPr>
          <a:xfrm>
            <a:off x="1106182" y="2602390"/>
            <a:ext cx="253146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1D7CB7"/>
                </a:solidFill>
                <a:latin typeface="Times New Roman" panose="02020603050405020304"/>
                <a:ea typeface="Times New Roman" panose="02020603050405020304"/>
                <a:cs typeface="Times New Roman" panose="02020603050405020304"/>
                <a:sym typeface="Times New Roman" panose="02020603050405020304"/>
              </a:rPr>
              <a:t>NỘI DUNG</a:t>
            </a:r>
            <a:endParaRPr lang="en-US" sz="3600" b="1">
              <a:solidFill>
                <a:srgbClr val="1D7CB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54" name="Google Shape;154;p2"/>
          <p:cNvGrpSpPr/>
          <p:nvPr>
            <p:custDataLst>
              <p:tags r:id="rId1"/>
            </p:custDataLst>
          </p:nvPr>
        </p:nvGrpSpPr>
        <p:grpSpPr>
          <a:xfrm>
            <a:off x="3971698" y="2059750"/>
            <a:ext cx="7382614" cy="705485"/>
            <a:chOff x="5561568" y="2150659"/>
            <a:chExt cx="5563680" cy="708860"/>
          </a:xfrm>
        </p:grpSpPr>
        <p:sp>
          <p:nvSpPr>
            <p:cNvPr id="155" name="Google Shape;155;p2"/>
            <p:cNvSpPr txBox="1"/>
            <p:nvPr>
              <p:custDataLst>
                <p:tags r:id="rId2"/>
              </p:custDataLst>
            </p:nvPr>
          </p:nvSpPr>
          <p:spPr>
            <a:xfrm>
              <a:off x="6183957" y="2255329"/>
              <a:ext cx="4941291" cy="5231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altLang="en-US" sz="2800" b="1" dirty="0">
                  <a:solidFill>
                    <a:schemeClr val="tx1"/>
                  </a:solidFill>
                  <a:latin typeface="Times New Roman" panose="02020603050405020304"/>
                  <a:cs typeface="Times New Roman" panose="02020603050405020304"/>
                  <a:sym typeface="Times New Roman" panose="02020603050405020304"/>
                </a:rPr>
                <a:t>Kerberos</a:t>
              </a:r>
              <a:endParaRPr lang="vi-VN" altLang="en-US" sz="2800" b="1" dirty="0">
                <a:solidFill>
                  <a:schemeClr val="tx1"/>
                </a:solidFill>
                <a:latin typeface="Times New Roman" panose="02020603050405020304"/>
                <a:cs typeface="Times New Roman" panose="02020603050405020304"/>
                <a:sym typeface="Times New Roman" panose="02020603050405020304"/>
              </a:endParaRPr>
            </a:p>
          </p:txBody>
        </p:sp>
        <p:sp>
          <p:nvSpPr>
            <p:cNvPr id="156" name="Google Shape;156;p2"/>
            <p:cNvSpPr txBox="1"/>
            <p:nvPr>
              <p:custDataLst>
                <p:tags r:id="rId3"/>
              </p:custDataLst>
            </p:nvPr>
          </p:nvSpPr>
          <p:spPr>
            <a:xfrm>
              <a:off x="5561568" y="2150659"/>
              <a:ext cx="622389" cy="7088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i="1">
                  <a:solidFill>
                    <a:srgbClr val="1D7CB7"/>
                  </a:solidFill>
                  <a:latin typeface="Times New Roman" panose="02020603050405020304"/>
                  <a:ea typeface="Times New Roman" panose="02020603050405020304"/>
                  <a:cs typeface="Times New Roman" panose="02020603050405020304"/>
                  <a:sym typeface="Times New Roman" panose="02020603050405020304"/>
                </a:rPr>
                <a:t>0</a:t>
              </a:r>
              <a:r>
                <a:rPr lang="vi-VN" altLang="en-US" sz="4000" b="1" i="1">
                  <a:solidFill>
                    <a:srgbClr val="1D7CB7"/>
                  </a:solidFill>
                  <a:latin typeface="Times New Roman" panose="02020603050405020304"/>
                  <a:ea typeface="Times New Roman" panose="02020603050405020304"/>
                  <a:cs typeface="Times New Roman" panose="02020603050405020304"/>
                  <a:sym typeface="Times New Roman" panose="02020603050405020304"/>
                </a:rPr>
                <a:t>1</a:t>
              </a:r>
              <a:r>
                <a:rPr lang="en-US" sz="4000" b="1" i="1">
                  <a:solidFill>
                    <a:srgbClr val="1D7CB7"/>
                  </a:solidFill>
                  <a:latin typeface="Times New Roman" panose="02020603050405020304"/>
                  <a:ea typeface="Times New Roman" panose="02020603050405020304"/>
                  <a:cs typeface="Times New Roman" panose="02020603050405020304"/>
                  <a:sym typeface="Times New Roman" panose="02020603050405020304"/>
                </a:rPr>
                <a:t>.</a:t>
              </a:r>
              <a:endParaRPr lang="en-US" sz="4000" b="1" i="1">
                <a:solidFill>
                  <a:srgbClr val="1D7CB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57" name="Google Shape;157;p2"/>
          <p:cNvGrpSpPr/>
          <p:nvPr>
            <p:custDataLst>
              <p:tags r:id="rId4"/>
            </p:custDataLst>
          </p:nvPr>
        </p:nvGrpSpPr>
        <p:grpSpPr>
          <a:xfrm>
            <a:off x="3955823" y="3325694"/>
            <a:ext cx="6921505" cy="705486"/>
            <a:chOff x="5487735" y="1732556"/>
            <a:chExt cx="5830086" cy="208101"/>
          </a:xfrm>
        </p:grpSpPr>
        <p:sp>
          <p:nvSpPr>
            <p:cNvPr id="158" name="Google Shape;158;p2"/>
            <p:cNvSpPr txBox="1"/>
            <p:nvPr>
              <p:custDataLst>
                <p:tags r:id="rId5"/>
              </p:custDataLst>
            </p:nvPr>
          </p:nvSpPr>
          <p:spPr>
            <a:xfrm>
              <a:off x="6183375" y="1762992"/>
              <a:ext cx="5134446" cy="1535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b="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MIT Kerberos</a:t>
              </a:r>
              <a:endParaRPr lang="vi-VN" sz="2800" b="1"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p2"/>
            <p:cNvSpPr txBox="1"/>
            <p:nvPr>
              <p:custDataLst>
                <p:tags r:id="rId6"/>
              </p:custDataLst>
            </p:nvPr>
          </p:nvSpPr>
          <p:spPr>
            <a:xfrm>
              <a:off x="5487735" y="1732556"/>
              <a:ext cx="695640" cy="2081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altLang="en-US" sz="4000" b="1" i="1">
                  <a:solidFill>
                    <a:srgbClr val="1D7CB7"/>
                  </a:solidFill>
                  <a:latin typeface="Times New Roman" panose="02020603050405020304"/>
                  <a:ea typeface="Times New Roman" panose="02020603050405020304"/>
                  <a:cs typeface="Times New Roman" panose="02020603050405020304"/>
                  <a:sym typeface="Times New Roman" panose="02020603050405020304"/>
                </a:rPr>
                <a:t>0</a:t>
              </a:r>
              <a:r>
                <a:rPr lang="vi-VN" altLang="en-US" sz="4000" b="1" i="1">
                  <a:solidFill>
                    <a:srgbClr val="1D7CB7"/>
                  </a:solidFill>
                  <a:latin typeface="Times New Roman" panose="02020603050405020304"/>
                  <a:ea typeface="Times New Roman" panose="02020603050405020304"/>
                  <a:cs typeface="Times New Roman" panose="02020603050405020304"/>
                  <a:sym typeface="Times New Roman" panose="02020603050405020304"/>
                </a:rPr>
                <a:t>2.</a:t>
              </a:r>
              <a:endParaRPr lang="vi-VN" altLang="en-US" sz="4000" b="1" i="1">
                <a:solidFill>
                  <a:srgbClr val="1D7CB7"/>
                </a:solidFill>
                <a:latin typeface="Times New Roman" panose="02020603050405020304"/>
                <a:ea typeface="Times New Roman" panose="02020603050405020304"/>
                <a:cs typeface="Times New Roman" panose="02020603050405020304"/>
                <a:sym typeface="Times New Roman" panose="02020603050405020304"/>
              </a:endParaRPr>
            </a:p>
          </p:txBody>
        </p:sp>
      </p:gr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70940" y="881380"/>
            <a:ext cx="10218420" cy="1543685"/>
          </a:xfrm>
          <a:prstGeom prst="rect">
            <a:avLst/>
          </a:prstGeom>
          <a:noFill/>
        </p:spPr>
        <p:txBody>
          <a:bodyPr wrap="square" rtlCol="0">
            <a:noAutofit/>
          </a:bodyPr>
          <a:p>
            <a:r>
              <a:rPr lang="vi-VN" altLang="en-GB" sz="4800"/>
              <a:t>Chuẩn </a:t>
            </a:r>
            <a:r>
              <a:rPr lang="vi-VN" altLang="en-GB" sz="4800" u="heavy"/>
              <a:t>bị</a:t>
            </a:r>
            <a:endParaRPr lang="vi-VN" altLang="en-GB" sz="4800"/>
          </a:p>
        </p:txBody>
      </p:sp>
      <p:sp>
        <p:nvSpPr>
          <p:cNvPr id="3" name="Text Box 2"/>
          <p:cNvSpPr txBox="1"/>
          <p:nvPr/>
        </p:nvSpPr>
        <p:spPr>
          <a:xfrm>
            <a:off x="2354580" y="1692275"/>
            <a:ext cx="6096000" cy="1076325"/>
          </a:xfrm>
          <a:prstGeom prst="rect">
            <a:avLst/>
          </a:prstGeom>
          <a:noFill/>
        </p:spPr>
        <p:txBody>
          <a:bodyPr wrap="square" rtlCol="0" anchor="t">
            <a:spAutoFit/>
          </a:bodyPr>
          <a:p>
            <a:r>
              <a:rPr lang="vi-VN" altLang="en-GB" sz="2400">
                <a:sym typeface="+mn-ea"/>
              </a:rPr>
              <a:t>Công cụ sử dụng:</a:t>
            </a:r>
            <a:endParaRPr lang="vi-VN" altLang="en-GB" sz="2400"/>
          </a:p>
          <a:p>
            <a:pPr indent="457200"/>
            <a:r>
              <a:rPr lang="vi-VN" altLang="en-GB" sz="2000">
                <a:sym typeface="+mn-ea"/>
              </a:rPr>
              <a:t>GNS3</a:t>
            </a:r>
            <a:endParaRPr lang="vi-VN" altLang="en-GB" sz="2000"/>
          </a:p>
          <a:p>
            <a:pPr indent="457200"/>
            <a:r>
              <a:rPr lang="vi-VN" altLang="en-GB" sz="2000">
                <a:sym typeface="+mn-ea"/>
              </a:rPr>
              <a:t>Wireshark</a:t>
            </a:r>
            <a:endParaRPr lang="vi-VN" altLang="en-GB" sz="2000">
              <a:sym typeface="+mn-ea"/>
            </a:endParaRPr>
          </a:p>
        </p:txBody>
      </p:sp>
      <p:sp>
        <p:nvSpPr>
          <p:cNvPr id="4" name="Text Box 3"/>
          <p:cNvSpPr txBox="1"/>
          <p:nvPr/>
        </p:nvSpPr>
        <p:spPr>
          <a:xfrm>
            <a:off x="2479040" y="2768600"/>
            <a:ext cx="6096000" cy="460375"/>
          </a:xfrm>
          <a:prstGeom prst="rect">
            <a:avLst/>
          </a:prstGeom>
          <a:noFill/>
        </p:spPr>
        <p:txBody>
          <a:bodyPr wrap="square" rtlCol="0" anchor="t">
            <a:spAutoFit/>
          </a:bodyPr>
          <a:p>
            <a:r>
              <a:rPr lang="vi-VN" altLang="en-GB" sz="2400">
                <a:sym typeface="+mn-ea"/>
              </a:rPr>
              <a:t>Mô hình mạng</a:t>
            </a:r>
            <a:endParaRPr lang="vi-VN" altLang="en-GB" sz="2400">
              <a:sym typeface="+mn-ea"/>
            </a:endParaRPr>
          </a:p>
        </p:txBody>
      </p:sp>
      <p:pic>
        <p:nvPicPr>
          <p:cNvPr id="5" name="Picture 4"/>
          <p:cNvPicPr>
            <a:picLocks noChangeAspect="1"/>
          </p:cNvPicPr>
          <p:nvPr/>
        </p:nvPicPr>
        <p:blipFill>
          <a:blip r:embed="rId1"/>
          <a:stretch>
            <a:fillRect/>
          </a:stretch>
        </p:blipFill>
        <p:spPr>
          <a:xfrm>
            <a:off x="2757805" y="3228975"/>
            <a:ext cx="6906895" cy="30308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70940" y="1512570"/>
            <a:ext cx="10218420" cy="1543685"/>
          </a:xfrm>
          <a:prstGeom prst="rect">
            <a:avLst/>
          </a:prstGeom>
          <a:noFill/>
        </p:spPr>
        <p:txBody>
          <a:bodyPr wrap="square" rtlCol="0">
            <a:noAutofit/>
          </a:bodyPr>
          <a:p>
            <a:r>
              <a:rPr lang="vi-VN" altLang="en-GB" sz="4800"/>
              <a:t>1. </a:t>
            </a:r>
            <a:r>
              <a:rPr lang="vi-VN" altLang="en-GB" sz="4800"/>
              <a:t>Kerberos</a:t>
            </a:r>
            <a:endParaRPr lang="vi-VN" altLang="en-GB" sz="4800"/>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vi-VN" altLang="en-GB"/>
              <a:t>Kerberos</a:t>
            </a:r>
            <a:endParaRPr lang="vi-VN" altLang="en-GB"/>
          </a:p>
        </p:txBody>
      </p:sp>
      <p:sp>
        <p:nvSpPr>
          <p:cNvPr id="4" name="Text Box 3"/>
          <p:cNvSpPr txBox="1"/>
          <p:nvPr/>
        </p:nvSpPr>
        <p:spPr>
          <a:xfrm>
            <a:off x="1225550" y="1456690"/>
            <a:ext cx="7324090" cy="922020"/>
          </a:xfrm>
          <a:prstGeom prst="rect">
            <a:avLst/>
          </a:prstGeom>
          <a:noFill/>
        </p:spPr>
        <p:txBody>
          <a:bodyPr wrap="square" rtlCol="0">
            <a:spAutoFit/>
          </a:bodyPr>
          <a:p>
            <a:r>
              <a:rPr lang="vi-VN" altLang="en-GB"/>
              <a:t>Bước </a:t>
            </a:r>
            <a:r>
              <a:rPr lang="vi-VN" altLang="en-GB"/>
              <a:t>1: Nâng máy Windows server lên làm máy D</a:t>
            </a:r>
            <a:r>
              <a:rPr lang="vi-VN" altLang="en-GB"/>
              <a:t>C</a:t>
            </a:r>
            <a:endParaRPr lang="vi-VN" altLang="en-GB"/>
          </a:p>
          <a:p>
            <a:endParaRPr lang="vi-VN" altLang="en-GB"/>
          </a:p>
          <a:p>
            <a:r>
              <a:rPr lang="vi-VN" altLang="en-GB"/>
              <a:t>Bước </a:t>
            </a:r>
            <a:r>
              <a:rPr lang="vi-VN" altLang="en-GB"/>
              <a:t>2: Join domain từ máy Windows 10 </a:t>
            </a:r>
            <a:r>
              <a:rPr lang="vi-VN" altLang="en-GB"/>
              <a:t>client</a:t>
            </a:r>
            <a:endParaRPr lang="vi-VN" altLang="en-GB"/>
          </a:p>
        </p:txBody>
      </p:sp>
      <p:pic>
        <p:nvPicPr>
          <p:cNvPr id="6" name="Picture 5"/>
          <p:cNvPicPr>
            <a:picLocks noChangeAspect="1"/>
          </p:cNvPicPr>
          <p:nvPr/>
        </p:nvPicPr>
        <p:blipFill>
          <a:blip r:embed="rId1"/>
          <a:stretch>
            <a:fillRect/>
          </a:stretch>
        </p:blipFill>
        <p:spPr>
          <a:xfrm>
            <a:off x="1225550" y="2663190"/>
            <a:ext cx="7152640" cy="2275840"/>
          </a:xfrm>
          <a:prstGeom prst="rect">
            <a:avLst/>
          </a:prstGeom>
        </p:spPr>
      </p:pic>
      <p:sp>
        <p:nvSpPr>
          <p:cNvPr id="7" name="Text Box 6"/>
          <p:cNvSpPr txBox="1"/>
          <p:nvPr/>
        </p:nvSpPr>
        <p:spPr>
          <a:xfrm>
            <a:off x="1438910" y="5294630"/>
            <a:ext cx="4064000" cy="368300"/>
          </a:xfrm>
          <a:prstGeom prst="rect">
            <a:avLst/>
          </a:prstGeom>
          <a:noFill/>
        </p:spPr>
        <p:txBody>
          <a:bodyPr wrap="square" rtlCol="0">
            <a:spAutoFit/>
          </a:bodyPr>
          <a:p>
            <a:endParaRPr lang="en-GB" altLang="en-US"/>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vi-VN" altLang="en-GB"/>
              <a:t>Kerberos</a:t>
            </a:r>
            <a:endParaRPr lang="vi-VN" altLang="en-GB"/>
          </a:p>
        </p:txBody>
      </p:sp>
      <p:sp>
        <p:nvSpPr>
          <p:cNvPr id="5" name="Text Box 4"/>
          <p:cNvSpPr txBox="1"/>
          <p:nvPr/>
        </p:nvSpPr>
        <p:spPr>
          <a:xfrm>
            <a:off x="1108075" y="1323340"/>
            <a:ext cx="7886700" cy="583565"/>
          </a:xfrm>
          <a:prstGeom prst="rect">
            <a:avLst/>
          </a:prstGeom>
          <a:noFill/>
        </p:spPr>
        <p:txBody>
          <a:bodyPr wrap="square" rtlCol="0">
            <a:spAutoFit/>
          </a:bodyPr>
          <a:p>
            <a:r>
              <a:rPr lang="vi-VN" altLang="en-GB" sz="3200"/>
              <a:t>Bắt và phân tích gói tin trên Wireshark</a:t>
            </a:r>
            <a:endParaRPr lang="vi-VN" altLang="en-GB" sz="3200"/>
          </a:p>
        </p:txBody>
      </p:sp>
      <p:sp>
        <p:nvSpPr>
          <p:cNvPr id="6" name="Text Box 5"/>
          <p:cNvSpPr txBox="1"/>
          <p:nvPr/>
        </p:nvSpPr>
        <p:spPr>
          <a:xfrm>
            <a:off x="1108075" y="2246630"/>
            <a:ext cx="10107295" cy="368300"/>
          </a:xfrm>
          <a:prstGeom prst="rect">
            <a:avLst/>
          </a:prstGeom>
          <a:noFill/>
        </p:spPr>
        <p:txBody>
          <a:bodyPr wrap="square" rtlCol="0">
            <a:spAutoFit/>
          </a:bodyPr>
          <a:p>
            <a:r>
              <a:rPr lang="vi-VN" altLang="en-GB"/>
              <a:t>Sau khi gia nhập DC thì 2 máy đã có xác thực bằng Kerberos mặc định trên </a:t>
            </a:r>
            <a:r>
              <a:rPr lang="vi-VN" altLang="en-GB"/>
              <a:t>Windows</a:t>
            </a:r>
            <a:endParaRPr lang="vi-VN" altLang="en-GB"/>
          </a:p>
        </p:txBody>
      </p:sp>
      <p:pic>
        <p:nvPicPr>
          <p:cNvPr id="7" name="Picture 6"/>
          <p:cNvPicPr>
            <a:picLocks noChangeAspect="1"/>
          </p:cNvPicPr>
          <p:nvPr/>
        </p:nvPicPr>
        <p:blipFill>
          <a:blip r:embed="rId1"/>
          <a:stretch>
            <a:fillRect/>
          </a:stretch>
        </p:blipFill>
        <p:spPr>
          <a:xfrm>
            <a:off x="1108075" y="2796540"/>
            <a:ext cx="9522460" cy="1025525"/>
          </a:xfrm>
          <a:prstGeom prst="rect">
            <a:avLst/>
          </a:prstGeom>
        </p:spPr>
      </p:pic>
      <p:sp>
        <p:nvSpPr>
          <p:cNvPr id="8" name="Text Box 7"/>
          <p:cNvSpPr txBox="1"/>
          <p:nvPr/>
        </p:nvSpPr>
        <p:spPr>
          <a:xfrm>
            <a:off x="1141095" y="4113530"/>
            <a:ext cx="7667625" cy="368300"/>
          </a:xfrm>
          <a:prstGeom prst="rect">
            <a:avLst/>
          </a:prstGeom>
          <a:noFill/>
        </p:spPr>
        <p:txBody>
          <a:bodyPr wrap="square" rtlCol="0">
            <a:spAutoFit/>
          </a:bodyPr>
          <a:p>
            <a:r>
              <a:rPr lang="vi-VN" altLang="en-GB"/>
              <a:t>Truy cập dịch vụ SMB sử dụng xác thực </a:t>
            </a:r>
            <a:r>
              <a:rPr lang="vi-VN" altLang="en-GB"/>
              <a:t>Kerberos</a:t>
            </a:r>
            <a:endParaRPr lang="vi-VN" altLang="en-GB"/>
          </a:p>
        </p:txBody>
      </p:sp>
      <p:pic>
        <p:nvPicPr>
          <p:cNvPr id="9" name="Picture 8"/>
          <p:cNvPicPr>
            <a:picLocks noChangeAspect="1"/>
          </p:cNvPicPr>
          <p:nvPr/>
        </p:nvPicPr>
        <p:blipFill>
          <a:blip r:embed="rId2"/>
          <a:srcRect l="3185" r="5222"/>
          <a:stretch>
            <a:fillRect/>
          </a:stretch>
        </p:blipFill>
        <p:spPr>
          <a:xfrm>
            <a:off x="1141095" y="4481830"/>
            <a:ext cx="9422130" cy="1933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vi-VN" altLang="en-GB"/>
              <a:t>Kerberos</a:t>
            </a:r>
            <a:endParaRPr lang="vi-VN" altLang="en-GB"/>
          </a:p>
        </p:txBody>
      </p:sp>
      <p:sp>
        <p:nvSpPr>
          <p:cNvPr id="4" name="Text Box 3"/>
          <p:cNvSpPr txBox="1"/>
          <p:nvPr/>
        </p:nvSpPr>
        <p:spPr>
          <a:xfrm>
            <a:off x="1081405" y="1353185"/>
            <a:ext cx="10258425" cy="583565"/>
          </a:xfrm>
          <a:prstGeom prst="rect">
            <a:avLst/>
          </a:prstGeom>
          <a:noFill/>
        </p:spPr>
        <p:txBody>
          <a:bodyPr wrap="square" rtlCol="0">
            <a:spAutoFit/>
          </a:bodyPr>
          <a:p>
            <a:r>
              <a:rPr lang="vi-VN" altLang="en-GB" sz="3200"/>
              <a:t>Các bước hoạt động của Kerberos</a:t>
            </a:r>
            <a:endParaRPr lang="vi-VN" altLang="en-GB" sz="3200"/>
          </a:p>
        </p:txBody>
      </p:sp>
      <p:sp>
        <p:nvSpPr>
          <p:cNvPr id="5" name="Text Box 4"/>
          <p:cNvSpPr txBox="1"/>
          <p:nvPr/>
        </p:nvSpPr>
        <p:spPr>
          <a:xfrm>
            <a:off x="1108075" y="2028825"/>
            <a:ext cx="9116695" cy="3971290"/>
          </a:xfrm>
          <a:prstGeom prst="rect">
            <a:avLst/>
          </a:prstGeom>
        </p:spPr>
        <p:txBody>
          <a:bodyPr>
            <a:noAutofit/>
          </a:bodyPr>
          <a:p>
            <a:pPr indent="0">
              <a:buFont typeface="Arial" panose="020B0604020202020204"/>
              <a:buNone/>
            </a:pPr>
            <a:r>
              <a:rPr lang="vi-VN" sz="2400">
                <a:latin typeface="Arial" panose="020B0604020202020204" pitchFamily="34" charset="0"/>
                <a:cs typeface="Arial" panose="020B0604020202020204" pitchFamily="34" charset="0"/>
              </a:rPr>
              <a:t>Bước 1</a:t>
            </a:r>
            <a:r>
              <a:rPr sz="2400">
                <a:latin typeface="Arial" panose="020B0604020202020204" pitchFamily="34" charset="0"/>
                <a:cs typeface="Arial" panose="020B0604020202020204" pitchFamily="34" charset="0"/>
              </a:rPr>
              <a:t>: xác thực với as </a:t>
            </a:r>
            <a:endParaRPr sz="240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sz="2400">
                <a:latin typeface="Arial" panose="020B0604020202020204" pitchFamily="34" charset="0"/>
                <a:cs typeface="Arial" panose="020B0604020202020204" pitchFamily="34" charset="0"/>
              </a:rPr>
              <a:t>client nhập username, pass và gửi yêu cầu xác thực đến AS</a:t>
            </a:r>
            <a:endParaRPr sz="240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sz="2400">
                <a:latin typeface="Arial" panose="020B0604020202020204" pitchFamily="34" charset="0"/>
                <a:cs typeface="Arial" panose="020B0604020202020204" pitchFamily="34" charset="0"/>
              </a:rPr>
              <a:t>AS kiểm tra thông tin và phản hồi bằng TGT (ticket grant ticket) (mã hóa bằng KBM của TGS)</a:t>
            </a:r>
            <a:endParaRPr sz="2400">
              <a:latin typeface="Arial" panose="020B0604020202020204" pitchFamily="34" charset="0"/>
              <a:cs typeface="Arial" panose="020B0604020202020204" pitchFamily="34" charset="0"/>
            </a:endParaRPr>
          </a:p>
          <a:p>
            <a:pPr indent="0">
              <a:buFont typeface="Arial" panose="020B0604020202020204"/>
              <a:buNone/>
            </a:pPr>
            <a:r>
              <a:rPr lang="vi-VN" sz="2400">
                <a:latin typeface="Arial" panose="020B0604020202020204" pitchFamily="34" charset="0"/>
                <a:cs typeface="Arial" panose="020B0604020202020204" pitchFamily="34" charset="0"/>
              </a:rPr>
              <a:t>Bước 2</a:t>
            </a:r>
            <a:r>
              <a:rPr sz="2400">
                <a:latin typeface="Arial" panose="020B0604020202020204" pitchFamily="34" charset="0"/>
                <a:cs typeface="Arial" panose="020B0604020202020204" pitchFamily="34" charset="0"/>
              </a:rPr>
              <a:t>: yêu cầu vé từ TGS </a:t>
            </a:r>
            <a:endParaRPr sz="240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sz="2400">
                <a:latin typeface="Arial" panose="020B0604020202020204" pitchFamily="34" charset="0"/>
                <a:cs typeface="Arial" panose="020B0604020202020204" pitchFamily="34" charset="0"/>
              </a:rPr>
              <a:t>client sử dụng TGT để yêu cầu vé dịch vụ từ TGS</a:t>
            </a:r>
            <a:endParaRPr sz="240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sz="2400">
                <a:latin typeface="Arial" panose="020B0604020202020204" pitchFamily="34" charset="0"/>
                <a:cs typeface="Arial" panose="020B0604020202020204" pitchFamily="34" charset="0"/>
              </a:rPr>
              <a:t>TGS kiểm tra TGT → cung cấp ST (service ticket)</a:t>
            </a:r>
            <a:endParaRPr sz="2400">
              <a:latin typeface="Arial" panose="020B0604020202020204" pitchFamily="34" charset="0"/>
              <a:cs typeface="Arial" panose="020B0604020202020204" pitchFamily="34" charset="0"/>
            </a:endParaRPr>
          </a:p>
          <a:p>
            <a:pPr indent="0">
              <a:buFont typeface="Arial" panose="020B0604020202020204"/>
              <a:buNone/>
            </a:pPr>
            <a:r>
              <a:rPr lang="vi-VN" sz="2400">
                <a:latin typeface="Arial" panose="020B0604020202020204" pitchFamily="34" charset="0"/>
                <a:cs typeface="Arial" panose="020B0604020202020204" pitchFamily="34" charset="0"/>
              </a:rPr>
              <a:t>Bước 3</a:t>
            </a:r>
            <a:r>
              <a:rPr sz="2400">
                <a:latin typeface="Arial" panose="020B0604020202020204" pitchFamily="34" charset="0"/>
                <a:cs typeface="Arial" panose="020B0604020202020204" pitchFamily="34" charset="0"/>
              </a:rPr>
              <a:t>: truy cập dịch vụ </a:t>
            </a:r>
            <a:endParaRPr sz="240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sz="2400">
                <a:latin typeface="Arial" panose="020B0604020202020204" pitchFamily="34" charset="0"/>
                <a:cs typeface="Arial" panose="020B0604020202020204" pitchFamily="34" charset="0"/>
              </a:rPr>
              <a:t>client gửi ST cho server</a:t>
            </a:r>
            <a:endParaRPr sz="240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sz="2400">
                <a:latin typeface="Arial" panose="020B0604020202020204" pitchFamily="34" charset="0"/>
                <a:cs typeface="Arial" panose="020B0604020202020204" pitchFamily="34" charset="0"/>
              </a:rPr>
              <a:t>server xác nhận hợp lệ và cho phép sử dụng dịch vụ.</a:t>
            </a:r>
            <a:endParaRPr sz="240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vi-VN" altLang="en-GB"/>
              <a:t>Kerberos</a:t>
            </a:r>
            <a:endParaRPr lang="vi-VN" altLang="en-GB"/>
          </a:p>
        </p:txBody>
      </p:sp>
      <p:sp>
        <p:nvSpPr>
          <p:cNvPr id="4" name="Text Box 3"/>
          <p:cNvSpPr txBox="1"/>
          <p:nvPr/>
        </p:nvSpPr>
        <p:spPr>
          <a:xfrm>
            <a:off x="614680" y="1700530"/>
            <a:ext cx="4064000" cy="398780"/>
          </a:xfrm>
          <a:prstGeom prst="rect">
            <a:avLst/>
          </a:prstGeom>
          <a:noFill/>
        </p:spPr>
        <p:txBody>
          <a:bodyPr wrap="square" rtlCol="0">
            <a:spAutoFit/>
          </a:bodyPr>
          <a:p>
            <a:r>
              <a:rPr lang="vi-VN" altLang="en-GB" sz="2000"/>
              <a:t>Phân tích gó</a:t>
            </a:r>
            <a:r>
              <a:rPr lang="vi-VN" altLang="en-GB" sz="2000"/>
              <a:t>i tin AS-REQ</a:t>
            </a:r>
            <a:endParaRPr lang="vi-VN" altLang="en-GB" sz="2000"/>
          </a:p>
        </p:txBody>
      </p:sp>
      <p:pic>
        <p:nvPicPr>
          <p:cNvPr id="5" name="Picture 4"/>
          <p:cNvPicPr>
            <a:picLocks noChangeAspect="1"/>
          </p:cNvPicPr>
          <p:nvPr/>
        </p:nvPicPr>
        <p:blipFill>
          <a:blip r:embed="rId1"/>
          <a:stretch>
            <a:fillRect/>
          </a:stretch>
        </p:blipFill>
        <p:spPr>
          <a:xfrm>
            <a:off x="5335270" y="234950"/>
            <a:ext cx="6178550" cy="65525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vi-VN" altLang="en-GB">
                <a:sym typeface="+mn-ea"/>
              </a:rPr>
              <a:t>Kerberos</a:t>
            </a:r>
            <a:endParaRPr lang="en-GB" altLang="en-US"/>
          </a:p>
        </p:txBody>
      </p:sp>
      <p:pic>
        <p:nvPicPr>
          <p:cNvPr id="4" name="Picture 3"/>
          <p:cNvPicPr>
            <a:picLocks noChangeAspect="1"/>
          </p:cNvPicPr>
          <p:nvPr/>
        </p:nvPicPr>
        <p:blipFill>
          <a:blip r:embed="rId1"/>
          <a:stretch>
            <a:fillRect/>
          </a:stretch>
        </p:blipFill>
        <p:spPr>
          <a:xfrm>
            <a:off x="1108075" y="1229360"/>
            <a:ext cx="7957185" cy="3154680"/>
          </a:xfrm>
          <a:prstGeom prst="rect">
            <a:avLst/>
          </a:prstGeom>
        </p:spPr>
      </p:pic>
      <p:sp>
        <p:nvSpPr>
          <p:cNvPr id="5" name="Text Box 4"/>
          <p:cNvSpPr txBox="1"/>
          <p:nvPr/>
        </p:nvSpPr>
        <p:spPr>
          <a:xfrm>
            <a:off x="1108075" y="4560570"/>
            <a:ext cx="10587355" cy="1753235"/>
          </a:xfrm>
          <a:prstGeom prst="rect">
            <a:avLst/>
          </a:prstGeom>
          <a:noFill/>
        </p:spPr>
        <p:txBody>
          <a:bodyPr wrap="square" rtlCol="0">
            <a:spAutoFit/>
          </a:bodyPr>
          <a:p>
            <a:pPr marL="285750" indent="-285750">
              <a:buFont typeface="Arial" panose="020B0604020202020204" pitchFamily="34" charset="0"/>
              <a:buChar char="•"/>
            </a:pPr>
            <a:r>
              <a:rPr lang="vi-VN" altLang="en-GB"/>
              <a:t>Src IP là máy client, Dst IP là máy </a:t>
            </a:r>
            <a:r>
              <a:rPr lang="vi-VN" altLang="en-GB"/>
              <a:t>Server</a:t>
            </a:r>
            <a:endParaRPr lang="vi-VN" altLang="en-GB"/>
          </a:p>
          <a:p>
            <a:pPr marL="285750" indent="-285750">
              <a:buFont typeface="Arial" panose="020B0604020202020204" pitchFamily="34" charset="0"/>
              <a:buChar char="•"/>
            </a:pPr>
            <a:r>
              <a:rPr lang="vi-VN" altLang="en-GB"/>
              <a:t>as-req:Authentication Service </a:t>
            </a:r>
            <a:r>
              <a:rPr lang="vi-VN" altLang="en-GB"/>
              <a:t>Request</a:t>
            </a:r>
            <a:endParaRPr lang="vi-VN" altLang="en-GB"/>
          </a:p>
          <a:p>
            <a:pPr marL="285750" indent="-285750">
              <a:buFont typeface="Arial" panose="020B0604020202020204" pitchFamily="34" charset="0"/>
              <a:buChar char="•"/>
            </a:pPr>
            <a:r>
              <a:rPr lang="vi-VN" altLang="en-GB"/>
              <a:t>msg-type (10): as-</a:t>
            </a:r>
            <a:r>
              <a:rPr lang="vi-VN" altLang="en-GB"/>
              <a:t>req</a:t>
            </a:r>
            <a:endParaRPr lang="vi-VN" altLang="en-GB"/>
          </a:p>
          <a:p>
            <a:pPr marL="285750" indent="-285750">
              <a:buFont typeface="Arial" panose="020B0604020202020204" pitchFamily="34" charset="0"/>
              <a:buChar char="•"/>
            </a:pPr>
            <a:r>
              <a:rPr lang="vi-VN" altLang="en-GB"/>
              <a:t>padata (Pre-authentication data):  Client lấy Timestamp mã hóa bằng Password Hash, khi KDC nhận được sẽ lấy Password Hash đã lưu trong DB để giải mã ra Timestamp và so sánh với Timestamp hiện tại (không quá </a:t>
            </a:r>
            <a:r>
              <a:rPr lang="vi-VN" altLang="en-GB"/>
              <a:t>5’) </a:t>
            </a:r>
            <a:endParaRPr lang="vi-VN" altLang="en-GB"/>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vi-VN" altLang="en-GB">
                <a:sym typeface="+mn-ea"/>
              </a:rPr>
              <a:t>Kerberos</a:t>
            </a:r>
            <a:endParaRPr lang="en-GB" altLang="en-US"/>
          </a:p>
        </p:txBody>
      </p:sp>
      <p:sp>
        <p:nvSpPr>
          <p:cNvPr id="5" name="Text Box 4"/>
          <p:cNvSpPr txBox="1"/>
          <p:nvPr/>
        </p:nvSpPr>
        <p:spPr>
          <a:xfrm>
            <a:off x="6959600" y="1119505"/>
            <a:ext cx="5165725" cy="2306955"/>
          </a:xfrm>
          <a:prstGeom prst="rect">
            <a:avLst/>
          </a:prstGeom>
          <a:noFill/>
        </p:spPr>
        <p:txBody>
          <a:bodyPr wrap="square" rtlCol="0">
            <a:spAutoFit/>
          </a:bodyPr>
          <a:p>
            <a:pPr marL="285750" indent="-285750">
              <a:buFont typeface="Arial" panose="020B0604020202020204" pitchFamily="34" charset="0"/>
              <a:buChar char="•"/>
            </a:pPr>
            <a:r>
              <a:rPr lang="vi-VN" altLang="en-GB"/>
              <a:t>req-body: nội dung yêu </a:t>
            </a:r>
            <a:r>
              <a:rPr lang="vi-VN" altLang="en-GB"/>
              <a:t>cầu</a:t>
            </a:r>
            <a:endParaRPr lang="vi-VN" altLang="en-GB"/>
          </a:p>
          <a:p>
            <a:pPr marL="285750" indent="-285750">
              <a:buFont typeface="Arial" panose="020B0604020202020204" pitchFamily="34" charset="0"/>
              <a:buChar char="•"/>
            </a:pPr>
            <a:r>
              <a:rPr lang="vi-VN" altLang="en-GB"/>
              <a:t>cname: Client </a:t>
            </a:r>
            <a:r>
              <a:rPr lang="vi-VN" altLang="en-GB"/>
              <a:t>name</a:t>
            </a:r>
            <a:endParaRPr lang="vi-VN" altLang="en-GB"/>
          </a:p>
          <a:p>
            <a:pPr marL="285750" indent="-285750">
              <a:buFont typeface="Arial" panose="020B0604020202020204" pitchFamily="34" charset="0"/>
              <a:buChar char="•"/>
            </a:pPr>
            <a:r>
              <a:rPr lang="vi-VN" altLang="en-GB"/>
              <a:t>sname: Server name, krbtgt là tải khoản quản lý vé của </a:t>
            </a:r>
            <a:r>
              <a:rPr lang="vi-VN" altLang="en-GB"/>
              <a:t>KDS</a:t>
            </a:r>
            <a:endParaRPr lang="vi-VN" altLang="en-GB"/>
          </a:p>
          <a:p>
            <a:pPr marL="285750" indent="-285750">
              <a:buFont typeface="Arial" panose="020B0604020202020204" pitchFamily="34" charset="0"/>
              <a:buChar char="•"/>
            </a:pPr>
            <a:r>
              <a:rPr lang="vi-VN" altLang="en-GB"/>
              <a:t>nonce: số ngẫu nhiên ghép cặp req-rep chống replay </a:t>
            </a:r>
            <a:r>
              <a:rPr lang="vi-VN" altLang="en-GB"/>
              <a:t>attack</a:t>
            </a:r>
            <a:endParaRPr lang="vi-VN" altLang="en-GB"/>
          </a:p>
          <a:p>
            <a:pPr marL="285750" indent="-285750">
              <a:buFont typeface="Arial" panose="020B0604020202020204" pitchFamily="34" charset="0"/>
              <a:buChar char="•"/>
            </a:pPr>
            <a:r>
              <a:rPr lang="vi-VN" altLang="en-GB"/>
              <a:t>etype (encryption type): Các thuật toán mã hóa mà Client hỗ </a:t>
            </a:r>
            <a:r>
              <a:rPr lang="vi-VN" altLang="en-GB"/>
              <a:t>trợ</a:t>
            </a:r>
            <a:endParaRPr lang="vi-VN" altLang="en-GB"/>
          </a:p>
        </p:txBody>
      </p:sp>
      <p:pic>
        <p:nvPicPr>
          <p:cNvPr id="6" name="Picture 5"/>
          <p:cNvPicPr>
            <a:picLocks noChangeAspect="1"/>
          </p:cNvPicPr>
          <p:nvPr/>
        </p:nvPicPr>
        <p:blipFill>
          <a:blip r:embed="rId1"/>
          <a:srcRect l="2293"/>
          <a:stretch>
            <a:fillRect/>
          </a:stretch>
        </p:blipFill>
        <p:spPr>
          <a:xfrm>
            <a:off x="515620" y="1119505"/>
            <a:ext cx="6359525" cy="52844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vi-VN" altLang="en-GB">
                <a:sym typeface="+mn-ea"/>
              </a:rPr>
              <a:t>Kerberos</a:t>
            </a:r>
            <a:endParaRPr lang="en-GB" altLang="en-US"/>
          </a:p>
        </p:txBody>
      </p:sp>
      <p:sp>
        <p:nvSpPr>
          <p:cNvPr id="4" name="Text Box 3"/>
          <p:cNvSpPr txBox="1"/>
          <p:nvPr/>
        </p:nvSpPr>
        <p:spPr>
          <a:xfrm>
            <a:off x="6700520" y="972185"/>
            <a:ext cx="4064000" cy="368300"/>
          </a:xfrm>
          <a:prstGeom prst="rect">
            <a:avLst/>
          </a:prstGeom>
          <a:noFill/>
        </p:spPr>
        <p:txBody>
          <a:bodyPr wrap="square" rtlCol="0">
            <a:spAutoFit/>
          </a:bodyPr>
          <a:p>
            <a:r>
              <a:rPr lang="vi-VN" altLang="en-GB"/>
              <a:t>Phân tích gói tin AS-RE</a:t>
            </a:r>
            <a:r>
              <a:rPr lang="vi-VN" altLang="en-GB"/>
              <a:t>P</a:t>
            </a:r>
            <a:endParaRPr lang="vi-VN" altLang="en-GB"/>
          </a:p>
        </p:txBody>
      </p:sp>
      <p:pic>
        <p:nvPicPr>
          <p:cNvPr id="5" name="Picture 4"/>
          <p:cNvPicPr>
            <a:picLocks noChangeAspect="1"/>
          </p:cNvPicPr>
          <p:nvPr/>
        </p:nvPicPr>
        <p:blipFill>
          <a:blip r:embed="rId1"/>
          <a:srcRect r="48082"/>
          <a:stretch>
            <a:fillRect/>
          </a:stretch>
        </p:blipFill>
        <p:spPr>
          <a:xfrm>
            <a:off x="943610" y="972185"/>
            <a:ext cx="5612765" cy="5524500"/>
          </a:xfrm>
          <a:prstGeom prst="rect">
            <a:avLst/>
          </a:prstGeom>
        </p:spPr>
      </p:pic>
      <p:sp>
        <p:nvSpPr>
          <p:cNvPr id="8" name="Text Box 7"/>
          <p:cNvSpPr txBox="1"/>
          <p:nvPr/>
        </p:nvSpPr>
        <p:spPr>
          <a:xfrm>
            <a:off x="6700520" y="1426210"/>
            <a:ext cx="4064000" cy="2861310"/>
          </a:xfrm>
          <a:prstGeom prst="rect">
            <a:avLst/>
          </a:prstGeom>
          <a:noFill/>
        </p:spPr>
        <p:txBody>
          <a:bodyPr wrap="square" rtlCol="0">
            <a:spAutoFit/>
          </a:bodyPr>
          <a:p>
            <a:pPr marL="285750" indent="-285750">
              <a:buFont typeface="Arial" panose="020B0604020202020204" pitchFamily="34" charset="0"/>
              <a:buChar char="•"/>
            </a:pPr>
            <a:r>
              <a:rPr lang="vi-VN" altLang="en-GB"/>
              <a:t>msg-type (11): as-</a:t>
            </a:r>
            <a:r>
              <a:rPr lang="vi-VN" altLang="en-GB"/>
              <a:t>rep</a:t>
            </a:r>
            <a:endParaRPr lang="vi-VN" altLang="en-GB"/>
          </a:p>
          <a:p>
            <a:pPr marL="285750" indent="-285750">
              <a:buFont typeface="Arial" panose="020B0604020202020204" pitchFamily="34" charset="0"/>
              <a:buChar char="•"/>
            </a:pPr>
            <a:r>
              <a:rPr lang="vi-VN" altLang="en-GB"/>
              <a:t>ticket: thẻ </a:t>
            </a:r>
            <a:r>
              <a:rPr lang="vi-VN" altLang="en-GB"/>
              <a:t>TGT</a:t>
            </a:r>
            <a:endParaRPr lang="vi-VN" altLang="en-GB"/>
          </a:p>
          <a:p>
            <a:pPr marL="285750" indent="-285750">
              <a:buFont typeface="Arial" panose="020B0604020202020204" pitchFamily="34" charset="0"/>
              <a:buChar char="•"/>
            </a:pPr>
            <a:r>
              <a:rPr lang="vi-VN" altLang="en-GB"/>
              <a:t>enc-part trong ticket: chứa ID client, thời gian hết hạn, session key, được mã hóa bằng </a:t>
            </a:r>
            <a:r>
              <a:rPr lang="vi-VN" altLang="en-GB"/>
              <a:t>password của krbtgt nên Client không thể giải </a:t>
            </a:r>
            <a:r>
              <a:rPr lang="vi-VN" altLang="en-GB"/>
              <a:t>mã</a:t>
            </a:r>
            <a:endParaRPr lang="vi-VN" altLang="en-GB"/>
          </a:p>
          <a:p>
            <a:pPr marL="285750" indent="-285750">
              <a:buFont typeface="Arial" panose="020B0604020202020204" pitchFamily="34" charset="0"/>
              <a:buChar char="•"/>
            </a:pPr>
            <a:r>
              <a:rPr lang="vi-VN" altLang="en-GB"/>
              <a:t>enc-part dành cho client: chứa nonce, session key, thời gian hiệu lực được mã hóa bằng password của </a:t>
            </a:r>
            <a:r>
              <a:rPr lang="vi-VN" altLang="en-GB"/>
              <a:t>Client</a:t>
            </a:r>
            <a:endParaRPr lang="vi-VN" altLang="en-GB"/>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vi-VN" altLang="en-GB">
                <a:sym typeface="+mn-ea"/>
              </a:rPr>
              <a:t>Kerberos</a:t>
            </a:r>
            <a:endParaRPr lang="en-GB" altLang="en-US"/>
          </a:p>
        </p:txBody>
      </p:sp>
      <p:sp>
        <p:nvSpPr>
          <p:cNvPr id="4" name="Text Box 3"/>
          <p:cNvSpPr txBox="1"/>
          <p:nvPr/>
        </p:nvSpPr>
        <p:spPr>
          <a:xfrm>
            <a:off x="7138670" y="1113790"/>
            <a:ext cx="4064000" cy="368300"/>
          </a:xfrm>
          <a:prstGeom prst="rect">
            <a:avLst/>
          </a:prstGeom>
          <a:noFill/>
        </p:spPr>
        <p:txBody>
          <a:bodyPr wrap="square" rtlCol="0">
            <a:spAutoFit/>
          </a:bodyPr>
          <a:p>
            <a:r>
              <a:rPr lang="vi-VN" altLang="en-GB"/>
              <a:t>Phân tích gói TGS-</a:t>
            </a:r>
            <a:r>
              <a:rPr lang="vi-VN" altLang="en-GB"/>
              <a:t>REQ</a:t>
            </a:r>
            <a:endParaRPr lang="vi-VN" altLang="en-GB"/>
          </a:p>
        </p:txBody>
      </p:sp>
      <p:pic>
        <p:nvPicPr>
          <p:cNvPr id="5" name="Picture 4"/>
          <p:cNvPicPr>
            <a:picLocks noChangeAspect="1"/>
          </p:cNvPicPr>
          <p:nvPr/>
        </p:nvPicPr>
        <p:blipFill>
          <a:blip r:embed="rId1"/>
          <a:stretch>
            <a:fillRect/>
          </a:stretch>
        </p:blipFill>
        <p:spPr>
          <a:xfrm>
            <a:off x="133350" y="1113790"/>
            <a:ext cx="6819265" cy="5250180"/>
          </a:xfrm>
          <a:prstGeom prst="rect">
            <a:avLst/>
          </a:prstGeom>
        </p:spPr>
      </p:pic>
      <p:sp>
        <p:nvSpPr>
          <p:cNvPr id="6" name="Text Box 5"/>
          <p:cNvSpPr txBox="1"/>
          <p:nvPr/>
        </p:nvSpPr>
        <p:spPr>
          <a:xfrm>
            <a:off x="7138670" y="1709420"/>
            <a:ext cx="4064000" cy="2861310"/>
          </a:xfrm>
          <a:prstGeom prst="rect">
            <a:avLst/>
          </a:prstGeom>
          <a:noFill/>
        </p:spPr>
        <p:txBody>
          <a:bodyPr wrap="square" rtlCol="0">
            <a:spAutoFit/>
          </a:bodyPr>
          <a:p>
            <a:pPr marL="285750" indent="-285750">
              <a:buFont typeface="Arial" panose="020B0604020202020204" pitchFamily="34" charset="0"/>
              <a:buChar char="•"/>
            </a:pPr>
            <a:r>
              <a:rPr lang="vi-VN" altLang="en-GB"/>
              <a:t>mgs-type (</a:t>
            </a:r>
            <a:r>
              <a:rPr lang="vi-VN" altLang="en-GB"/>
              <a:t>12)</a:t>
            </a:r>
            <a:endParaRPr lang="vi-VN" altLang="en-GB"/>
          </a:p>
          <a:p>
            <a:pPr marL="285750" indent="-285750">
              <a:buFont typeface="Arial" panose="020B0604020202020204" pitchFamily="34" charset="0"/>
              <a:buChar char="•"/>
            </a:pPr>
            <a:r>
              <a:rPr lang="vi-VN" altLang="en-GB"/>
              <a:t>padata: chứa ticket mà client không mở được ở bước </a:t>
            </a:r>
            <a:r>
              <a:rPr lang="vi-VN" altLang="en-GB"/>
              <a:t>2</a:t>
            </a:r>
            <a:endParaRPr lang="vi-VN" altLang="en-GB"/>
          </a:p>
          <a:p>
            <a:pPr marL="285750" indent="-285750">
              <a:buFont typeface="Arial" panose="020B0604020202020204" pitchFamily="34" charset="0"/>
              <a:buChar char="•"/>
            </a:pPr>
            <a:r>
              <a:rPr lang="vi-VN" altLang="en-GB"/>
              <a:t>sname: tên dịch vụ muốn truy cập, cifs là thư mục chia </a:t>
            </a:r>
            <a:r>
              <a:rPr lang="vi-VN" altLang="en-GB"/>
              <a:t>sẻ</a:t>
            </a:r>
            <a:endParaRPr lang="vi-VN" altLang="en-GB"/>
          </a:p>
          <a:p>
            <a:pPr marL="285750" indent="-285750">
              <a:buFont typeface="Arial" panose="020B0604020202020204" pitchFamily="34" charset="0"/>
              <a:buChar char="•"/>
            </a:pPr>
            <a:r>
              <a:rPr lang="vi-VN" altLang="en-GB"/>
              <a:t>none: số ngẫu nhiên ghép cặp với tgs-</a:t>
            </a:r>
            <a:r>
              <a:rPr lang="vi-VN" altLang="en-GB"/>
              <a:t>rep</a:t>
            </a:r>
            <a:endParaRPr lang="vi-VN" altLang="en-GB"/>
          </a:p>
          <a:p>
            <a:pPr marL="285750" indent="-285750">
              <a:buFont typeface="Arial" panose="020B0604020202020204" pitchFamily="34" charset="0"/>
              <a:buChar char="•"/>
            </a:pPr>
            <a:r>
              <a:rPr lang="vi-VN" altLang="en-GB"/>
              <a:t>etype: các thuật toán mã </a:t>
            </a:r>
            <a:r>
              <a:rPr lang="vi-VN" altLang="en-GB"/>
              <a:t>hóa</a:t>
            </a:r>
            <a:endParaRPr lang="vi-VN" altLang="en-GB"/>
          </a:p>
          <a:p>
            <a:pPr marL="285750" indent="-285750">
              <a:buFont typeface="Arial" panose="020B0604020202020204" pitchFamily="34" charset="0"/>
              <a:buChar char="•"/>
            </a:pPr>
            <a:r>
              <a:rPr lang="vi-VN" altLang="en-GB"/>
              <a:t>enc-authorization-data: các dữ liệu client được ủy quyền và mã hóa </a:t>
            </a:r>
            <a:r>
              <a:rPr lang="vi-VN" altLang="en-GB"/>
              <a:t>lại</a:t>
            </a:r>
            <a:endParaRPr lang="vi-VN" altLang="en-GB"/>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vi-VN" altLang="en-GB">
                <a:sym typeface="+mn-ea"/>
              </a:rPr>
              <a:t>Kerberos</a:t>
            </a:r>
            <a:endParaRPr lang="en-GB" altLang="en-US"/>
          </a:p>
        </p:txBody>
      </p:sp>
      <p:sp>
        <p:nvSpPr>
          <p:cNvPr id="4" name="Text Box 3"/>
          <p:cNvSpPr txBox="1"/>
          <p:nvPr/>
        </p:nvSpPr>
        <p:spPr>
          <a:xfrm>
            <a:off x="7663180" y="1045210"/>
            <a:ext cx="4064000" cy="368300"/>
          </a:xfrm>
          <a:prstGeom prst="rect">
            <a:avLst/>
          </a:prstGeom>
          <a:noFill/>
        </p:spPr>
        <p:txBody>
          <a:bodyPr wrap="square" rtlCol="0">
            <a:spAutoFit/>
          </a:bodyPr>
          <a:p>
            <a:r>
              <a:rPr lang="vi-VN" altLang="en-GB"/>
              <a:t>Phân tích gói TGT_</a:t>
            </a:r>
            <a:r>
              <a:rPr lang="vi-VN" altLang="en-GB"/>
              <a:t>REP</a:t>
            </a:r>
            <a:endParaRPr lang="vi-VN" altLang="en-GB"/>
          </a:p>
        </p:txBody>
      </p:sp>
      <p:pic>
        <p:nvPicPr>
          <p:cNvPr id="5" name="Picture 4"/>
          <p:cNvPicPr>
            <a:picLocks noChangeAspect="1"/>
          </p:cNvPicPr>
          <p:nvPr/>
        </p:nvPicPr>
        <p:blipFill>
          <a:blip r:embed="rId1"/>
          <a:srcRect b="4843"/>
          <a:stretch>
            <a:fillRect/>
          </a:stretch>
        </p:blipFill>
        <p:spPr>
          <a:xfrm>
            <a:off x="62230" y="1144270"/>
            <a:ext cx="7458075" cy="5302250"/>
          </a:xfrm>
          <a:prstGeom prst="rect">
            <a:avLst/>
          </a:prstGeom>
        </p:spPr>
      </p:pic>
      <p:sp>
        <p:nvSpPr>
          <p:cNvPr id="6" name="Text Box 5"/>
          <p:cNvSpPr txBox="1"/>
          <p:nvPr/>
        </p:nvSpPr>
        <p:spPr>
          <a:xfrm>
            <a:off x="7783195" y="1680845"/>
            <a:ext cx="4064000" cy="1476375"/>
          </a:xfrm>
          <a:prstGeom prst="rect">
            <a:avLst/>
          </a:prstGeom>
          <a:noFill/>
        </p:spPr>
        <p:txBody>
          <a:bodyPr wrap="square" rtlCol="0">
            <a:spAutoFit/>
          </a:bodyPr>
          <a:p>
            <a:pPr marL="285750" indent="-285750">
              <a:buFont typeface="Arial" panose="020B0604020202020204" pitchFamily="34" charset="0"/>
              <a:buChar char="•"/>
            </a:pPr>
            <a:r>
              <a:rPr lang="vi-VN" altLang="en-GB"/>
              <a:t>msg-type (</a:t>
            </a:r>
            <a:r>
              <a:rPr lang="vi-VN" altLang="en-GB"/>
              <a:t>13)</a:t>
            </a:r>
            <a:endParaRPr lang="vi-VN" altLang="en-GB"/>
          </a:p>
          <a:p>
            <a:pPr marL="285750" indent="-285750">
              <a:buFont typeface="Arial" panose="020B0604020202020204" pitchFamily="34" charset="0"/>
              <a:buChar char="•"/>
            </a:pPr>
            <a:r>
              <a:rPr lang="vi-VN" altLang="en-GB"/>
              <a:t>ticket: service </a:t>
            </a:r>
            <a:r>
              <a:rPr lang="vi-VN" altLang="en-GB"/>
              <a:t>ticket</a:t>
            </a:r>
            <a:endParaRPr lang="vi-VN" altLang="en-GB"/>
          </a:p>
          <a:p>
            <a:pPr marL="285750" indent="-285750">
              <a:buFont typeface="Arial" panose="020B0604020202020204" pitchFamily="34" charset="0"/>
              <a:buChar char="•"/>
            </a:pPr>
            <a:r>
              <a:rPr lang="vi-VN" altLang="en-GB"/>
              <a:t>enc-part cho client: chứa session key mã hóa bằng password của </a:t>
            </a:r>
            <a:r>
              <a:rPr lang="vi-VN" altLang="en-GB"/>
              <a:t>client</a:t>
            </a:r>
            <a:endParaRPr lang="vi-VN" altLang="en-GB"/>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en-US" altLang="en-GB">
                <a:sym typeface="+mn-ea"/>
              </a:rPr>
              <a:t>Kerberos</a:t>
            </a:r>
            <a:endParaRPr lang="en-GB" altLang="en-US"/>
          </a:p>
        </p:txBody>
      </p:sp>
      <p:sp>
        <p:nvSpPr>
          <p:cNvPr id="4" name="Text Box 3"/>
          <p:cNvSpPr txBox="1"/>
          <p:nvPr/>
        </p:nvSpPr>
        <p:spPr>
          <a:xfrm>
            <a:off x="283845" y="1474470"/>
            <a:ext cx="4064000" cy="368300"/>
          </a:xfrm>
          <a:prstGeom prst="rect">
            <a:avLst/>
          </a:prstGeom>
          <a:noFill/>
        </p:spPr>
        <p:txBody>
          <a:bodyPr wrap="square" rtlCol="0">
            <a:spAutoFit/>
          </a:bodyPr>
          <a:p>
            <a:r>
              <a:rPr lang="vi-VN" altLang="en-GB"/>
              <a:t>Phân tích gói tin AP-</a:t>
            </a:r>
            <a:r>
              <a:rPr lang="vi-VN" altLang="en-GB"/>
              <a:t>REQ</a:t>
            </a:r>
            <a:endParaRPr lang="vi-VN" altLang="en-GB"/>
          </a:p>
        </p:txBody>
      </p:sp>
      <p:pic>
        <p:nvPicPr>
          <p:cNvPr id="5" name="Picture 4"/>
          <p:cNvPicPr>
            <a:picLocks noChangeAspect="1"/>
          </p:cNvPicPr>
          <p:nvPr/>
        </p:nvPicPr>
        <p:blipFill>
          <a:blip r:embed="rId1"/>
          <a:srcRect l="740" t="1528" r="21163" b="2231"/>
          <a:stretch>
            <a:fillRect/>
          </a:stretch>
        </p:blipFill>
        <p:spPr>
          <a:xfrm>
            <a:off x="5310505" y="886460"/>
            <a:ext cx="5196840" cy="5686425"/>
          </a:xfrm>
          <a:prstGeom prst="rect">
            <a:avLst/>
          </a:prstGeom>
        </p:spPr>
      </p:pic>
      <p:sp>
        <p:nvSpPr>
          <p:cNvPr id="6" name="Text Box 5"/>
          <p:cNvSpPr txBox="1"/>
          <p:nvPr/>
        </p:nvSpPr>
        <p:spPr>
          <a:xfrm>
            <a:off x="354330" y="2265045"/>
            <a:ext cx="4064000" cy="645160"/>
          </a:xfrm>
          <a:prstGeom prst="rect">
            <a:avLst/>
          </a:prstGeom>
          <a:noFill/>
        </p:spPr>
        <p:txBody>
          <a:bodyPr wrap="square" rtlCol="0">
            <a:spAutoFit/>
          </a:bodyPr>
          <a:p>
            <a:r>
              <a:rPr lang="vi-VN" altLang="en-GB"/>
              <a:t>AP-REQ đã được bọc trong quá trình thiết lập phiên của giao thức </a:t>
            </a:r>
            <a:r>
              <a:rPr lang="vi-VN" altLang="en-GB"/>
              <a:t>SMB</a:t>
            </a:r>
            <a:endParaRPr lang="vi-VN" altLang="en-GB"/>
          </a:p>
        </p:txBody>
      </p:sp>
      <p:pic>
        <p:nvPicPr>
          <p:cNvPr id="7" name="Picture 6"/>
          <p:cNvPicPr>
            <a:picLocks noChangeAspect="1"/>
          </p:cNvPicPr>
          <p:nvPr/>
        </p:nvPicPr>
        <p:blipFill>
          <a:blip r:embed="rId2"/>
          <a:stretch>
            <a:fillRect/>
          </a:stretch>
        </p:blipFill>
        <p:spPr>
          <a:xfrm>
            <a:off x="414020" y="3162300"/>
            <a:ext cx="3724275" cy="2667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en-US" altLang="en-GB"/>
              <a:t>Kerberos</a:t>
            </a:r>
            <a:endParaRPr lang="en-US" altLang="en-GB"/>
          </a:p>
        </p:txBody>
      </p:sp>
      <p:pic>
        <p:nvPicPr>
          <p:cNvPr id="4" name="Picture 3"/>
          <p:cNvPicPr>
            <a:picLocks noChangeAspect="1"/>
          </p:cNvPicPr>
          <p:nvPr/>
        </p:nvPicPr>
        <p:blipFill>
          <a:blip r:embed="rId1"/>
          <a:stretch>
            <a:fillRect/>
          </a:stretch>
        </p:blipFill>
        <p:spPr>
          <a:xfrm>
            <a:off x="325755" y="1319530"/>
            <a:ext cx="6022340" cy="5062855"/>
          </a:xfrm>
          <a:prstGeom prst="rect">
            <a:avLst/>
          </a:prstGeom>
        </p:spPr>
      </p:pic>
      <p:sp>
        <p:nvSpPr>
          <p:cNvPr id="5" name="Text Box 4"/>
          <p:cNvSpPr txBox="1"/>
          <p:nvPr/>
        </p:nvSpPr>
        <p:spPr>
          <a:xfrm>
            <a:off x="6581775" y="1438910"/>
            <a:ext cx="4064000" cy="2861310"/>
          </a:xfrm>
          <a:prstGeom prst="rect">
            <a:avLst/>
          </a:prstGeom>
          <a:noFill/>
        </p:spPr>
        <p:txBody>
          <a:bodyPr wrap="square" rtlCol="0">
            <a:spAutoFit/>
          </a:bodyPr>
          <a:p>
            <a:pPr marL="285750" indent="-285750">
              <a:buFont typeface="Arial" panose="020B0604020202020204" pitchFamily="34" charset="0"/>
              <a:buChar char="•"/>
            </a:pPr>
            <a:r>
              <a:rPr lang="vi-VN" altLang="en-GB"/>
              <a:t>ticket: Server Ticket nhận được của server từ bước trên, máy chủ đích nhận được sẽ giải mã ra lấy được session </a:t>
            </a:r>
            <a:r>
              <a:rPr lang="vi-VN" altLang="en-GB"/>
              <a:t>key</a:t>
            </a:r>
            <a:endParaRPr lang="vi-VN" altLang="en-GB"/>
          </a:p>
          <a:p>
            <a:pPr marL="285750" indent="-285750">
              <a:buFont typeface="Arial" panose="020B0604020202020204" pitchFamily="34" charset="0"/>
              <a:buChar char="•"/>
            </a:pPr>
            <a:r>
              <a:rPr lang="vi-VN" altLang="en-GB"/>
              <a:t>authenticator: client tạo lại cụm (tên + timestamp) và mã hóa bằng session key, máy chủ nhận được giải mã bằng session key ra </a:t>
            </a:r>
            <a:r>
              <a:rPr lang="vi-VN" altLang="en-GB"/>
              <a:t>timestamp</a:t>
            </a:r>
            <a:endParaRPr lang="vi-VN" altLang="en-GB"/>
          </a:p>
          <a:p>
            <a:pPr marL="285750" indent="-285750">
              <a:buFont typeface="Arial" panose="020B0604020202020204" pitchFamily="34" charset="0"/>
              <a:buChar char="•"/>
            </a:pPr>
            <a:endParaRPr lang="vi-VN" altLang="en-GB"/>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en-US" altLang="en-GB"/>
              <a:t>Kerberos</a:t>
            </a:r>
            <a:endParaRPr lang="en-US" altLang="en-GB"/>
          </a:p>
        </p:txBody>
      </p:sp>
      <p:sp>
        <p:nvSpPr>
          <p:cNvPr id="4" name="Text Box 3"/>
          <p:cNvSpPr txBox="1"/>
          <p:nvPr/>
        </p:nvSpPr>
        <p:spPr>
          <a:xfrm>
            <a:off x="558165" y="1660525"/>
            <a:ext cx="4064000" cy="368300"/>
          </a:xfrm>
          <a:prstGeom prst="rect">
            <a:avLst/>
          </a:prstGeom>
          <a:noFill/>
        </p:spPr>
        <p:txBody>
          <a:bodyPr wrap="square" rtlCol="0">
            <a:spAutoFit/>
          </a:bodyPr>
          <a:p>
            <a:r>
              <a:rPr lang="vi-VN" altLang="en-GB"/>
              <a:t>Phân tích gói tin AP-</a:t>
            </a:r>
            <a:r>
              <a:rPr lang="vi-VN" altLang="en-GB"/>
              <a:t>REP</a:t>
            </a:r>
            <a:endParaRPr lang="vi-VN" altLang="en-GB"/>
          </a:p>
        </p:txBody>
      </p:sp>
      <p:pic>
        <p:nvPicPr>
          <p:cNvPr id="5" name="Picture 4"/>
          <p:cNvPicPr>
            <a:picLocks noChangeAspect="1"/>
          </p:cNvPicPr>
          <p:nvPr/>
        </p:nvPicPr>
        <p:blipFill>
          <a:blip r:embed="rId1"/>
          <a:stretch>
            <a:fillRect/>
          </a:stretch>
        </p:blipFill>
        <p:spPr>
          <a:xfrm>
            <a:off x="320675" y="2356485"/>
            <a:ext cx="3714750" cy="314325"/>
          </a:xfrm>
          <a:prstGeom prst="rect">
            <a:avLst/>
          </a:prstGeom>
        </p:spPr>
      </p:pic>
      <p:pic>
        <p:nvPicPr>
          <p:cNvPr id="6" name="Picture 5"/>
          <p:cNvPicPr>
            <a:picLocks noChangeAspect="1"/>
          </p:cNvPicPr>
          <p:nvPr/>
        </p:nvPicPr>
        <p:blipFill>
          <a:blip r:embed="rId2"/>
          <a:stretch>
            <a:fillRect/>
          </a:stretch>
        </p:blipFill>
        <p:spPr>
          <a:xfrm>
            <a:off x="4035425" y="1341120"/>
            <a:ext cx="7811135" cy="46818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en-US" altLang="en-GB">
                <a:sym typeface="+mn-ea"/>
              </a:rPr>
              <a:t>Kerberos</a:t>
            </a:r>
            <a:endParaRPr lang="en-GB" altLang="en-US"/>
          </a:p>
        </p:txBody>
      </p:sp>
      <p:pic>
        <p:nvPicPr>
          <p:cNvPr id="4" name="Picture 3"/>
          <p:cNvPicPr>
            <a:picLocks noChangeAspect="1"/>
          </p:cNvPicPr>
          <p:nvPr/>
        </p:nvPicPr>
        <p:blipFill>
          <a:blip r:embed="rId1"/>
          <a:stretch>
            <a:fillRect/>
          </a:stretch>
        </p:blipFill>
        <p:spPr>
          <a:xfrm>
            <a:off x="1108075" y="1358900"/>
            <a:ext cx="5915025" cy="1581150"/>
          </a:xfrm>
          <a:prstGeom prst="rect">
            <a:avLst/>
          </a:prstGeom>
        </p:spPr>
      </p:pic>
      <p:sp>
        <p:nvSpPr>
          <p:cNvPr id="5" name="Text Box 4"/>
          <p:cNvSpPr txBox="1"/>
          <p:nvPr/>
        </p:nvSpPr>
        <p:spPr>
          <a:xfrm>
            <a:off x="1172210" y="3543935"/>
            <a:ext cx="10290810" cy="645160"/>
          </a:xfrm>
          <a:prstGeom prst="rect">
            <a:avLst/>
          </a:prstGeom>
          <a:noFill/>
        </p:spPr>
        <p:txBody>
          <a:bodyPr wrap="square" rtlCol="0">
            <a:spAutoFit/>
          </a:bodyPr>
          <a:p>
            <a:r>
              <a:rPr lang="vi-VN" altLang="en-GB"/>
              <a:t>enc-part: được mã hóa bằng session key, chứa timestamp của client vừa gửi lên, dùng để xác thực </a:t>
            </a:r>
            <a:r>
              <a:rPr lang="vi-VN" altLang="en-GB"/>
              <a:t>client</a:t>
            </a:r>
            <a:endParaRPr lang="vi-VN" altLang="en-GB"/>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70940" y="1512570"/>
            <a:ext cx="10218420" cy="1543685"/>
          </a:xfrm>
          <a:prstGeom prst="rect">
            <a:avLst/>
          </a:prstGeom>
          <a:noFill/>
        </p:spPr>
        <p:txBody>
          <a:bodyPr wrap="square" rtlCol="0">
            <a:noAutofit/>
          </a:bodyPr>
          <a:p>
            <a:r>
              <a:rPr lang="vi-VN" altLang="en-GB" sz="4800"/>
              <a:t>2. MIT </a:t>
            </a:r>
            <a:r>
              <a:rPr lang="vi-VN" altLang="en-GB" sz="4800"/>
              <a:t>Kerberos</a:t>
            </a:r>
            <a:endParaRPr lang="vi-VN" altLang="en-GB" sz="4800"/>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vi-VN" altLang="en-GB">
                <a:sym typeface="+mn-ea"/>
              </a:rPr>
              <a:t>MIT Kerberos</a:t>
            </a:r>
            <a:endParaRPr lang="en-GB" altLang="en-US"/>
          </a:p>
        </p:txBody>
      </p:sp>
      <p:sp>
        <p:nvSpPr>
          <p:cNvPr id="4" name="Text Box 3"/>
          <p:cNvSpPr txBox="1"/>
          <p:nvPr/>
        </p:nvSpPr>
        <p:spPr>
          <a:xfrm>
            <a:off x="452120" y="1219835"/>
            <a:ext cx="5643880" cy="645160"/>
          </a:xfrm>
          <a:prstGeom prst="rect">
            <a:avLst/>
          </a:prstGeom>
          <a:noFill/>
        </p:spPr>
        <p:txBody>
          <a:bodyPr wrap="square" rtlCol="0">
            <a:spAutoFit/>
          </a:bodyPr>
          <a:p>
            <a:r>
              <a:rPr lang="vi-VN" altLang="en-GB"/>
              <a:t>Bước 1: Tải MIT Kerberos về máy win 10 </a:t>
            </a:r>
            <a:r>
              <a:rPr lang="vi-VN" altLang="en-GB"/>
              <a:t>client</a:t>
            </a:r>
            <a:endParaRPr lang="vi-VN" altLang="en-GB"/>
          </a:p>
          <a:p>
            <a:r>
              <a:rPr lang="vi-VN" altLang="en-GB"/>
              <a:t>Bước 2: Vào file config và sửa cấu hình như </a:t>
            </a:r>
            <a:r>
              <a:rPr lang="vi-VN" altLang="en-GB"/>
              <a:t>sau</a:t>
            </a:r>
            <a:endParaRPr lang="vi-VN" altLang="en-GB"/>
          </a:p>
        </p:txBody>
      </p:sp>
      <p:pic>
        <p:nvPicPr>
          <p:cNvPr id="5" name="Picture 4"/>
          <p:cNvPicPr>
            <a:picLocks noChangeAspect="1"/>
          </p:cNvPicPr>
          <p:nvPr/>
        </p:nvPicPr>
        <p:blipFill>
          <a:blip r:embed="rId1"/>
          <a:srcRect l="1159" t="24378" r="5571" b="36795"/>
          <a:stretch>
            <a:fillRect/>
          </a:stretch>
        </p:blipFill>
        <p:spPr>
          <a:xfrm>
            <a:off x="452120" y="1874520"/>
            <a:ext cx="6538595" cy="861695"/>
          </a:xfrm>
          <a:prstGeom prst="rect">
            <a:avLst/>
          </a:prstGeom>
        </p:spPr>
      </p:pic>
      <p:pic>
        <p:nvPicPr>
          <p:cNvPr id="6" name="Picture 5"/>
          <p:cNvPicPr>
            <a:picLocks noChangeAspect="1"/>
          </p:cNvPicPr>
          <p:nvPr/>
        </p:nvPicPr>
        <p:blipFill>
          <a:blip r:embed="rId2"/>
          <a:stretch>
            <a:fillRect/>
          </a:stretch>
        </p:blipFill>
        <p:spPr>
          <a:xfrm>
            <a:off x="6990715" y="689610"/>
            <a:ext cx="4857750" cy="5638800"/>
          </a:xfrm>
          <a:prstGeom prst="rect">
            <a:avLst/>
          </a:prstGeom>
        </p:spPr>
      </p:pic>
      <p:sp>
        <p:nvSpPr>
          <p:cNvPr id="7" name="Text Box 6"/>
          <p:cNvSpPr txBox="1"/>
          <p:nvPr/>
        </p:nvSpPr>
        <p:spPr>
          <a:xfrm>
            <a:off x="575945" y="3730625"/>
            <a:ext cx="6302375" cy="1198880"/>
          </a:xfrm>
          <a:prstGeom prst="rect">
            <a:avLst/>
          </a:prstGeom>
          <a:noFill/>
        </p:spPr>
        <p:txBody>
          <a:bodyPr wrap="square" rtlCol="0">
            <a:spAutoFit/>
          </a:bodyPr>
          <a:p>
            <a:pPr marL="285750" indent="-285750">
              <a:buFont typeface="Arial" panose="020B0604020202020204" pitchFamily="34" charset="0"/>
              <a:buChar char="•"/>
            </a:pPr>
            <a:r>
              <a:rPr lang="vi-VN" altLang="en-GB"/>
              <a:t>[libdefaults]: cấu hình mặc định của thư viện </a:t>
            </a:r>
            <a:r>
              <a:rPr lang="vi-VN" altLang="en-GB"/>
              <a:t>Kerberos</a:t>
            </a:r>
            <a:endParaRPr lang="vi-VN" altLang="en-GB"/>
          </a:p>
          <a:p>
            <a:pPr marL="285750" indent="-285750">
              <a:buFont typeface="Arial" panose="020B0604020202020204" pitchFamily="34" charset="0"/>
              <a:buChar char="•"/>
            </a:pPr>
            <a:r>
              <a:rPr lang="vi-VN" altLang="en-GB"/>
              <a:t>[realms]: định vị máy chủ cấp </a:t>
            </a:r>
            <a:r>
              <a:rPr lang="vi-VN" altLang="en-GB"/>
              <a:t>vé</a:t>
            </a:r>
            <a:endParaRPr lang="vi-VN" altLang="en-GB"/>
          </a:p>
          <a:p>
            <a:pPr marL="285750" indent="-285750">
              <a:buFont typeface="Arial" panose="020B0604020202020204" pitchFamily="34" charset="0"/>
              <a:buChar char="•"/>
            </a:pPr>
            <a:r>
              <a:rPr lang="vi-VN" altLang="en-GB"/>
              <a:t>[domain_realm]: ánh xạ tên miền -&gt; </a:t>
            </a:r>
            <a:r>
              <a:rPr lang="vi-VN" altLang="en-GB"/>
              <a:t>realms</a:t>
            </a:r>
            <a:endParaRPr lang="vi-VN" altLang="en-GB"/>
          </a:p>
          <a:p>
            <a:pPr marL="285750" indent="-285750">
              <a:buFont typeface="Arial" panose="020B0604020202020204" pitchFamily="34" charset="0"/>
              <a:buChar char="•"/>
            </a:pPr>
            <a:r>
              <a:rPr lang="vi-VN" altLang="en-GB"/>
              <a:t>[logging]: </a:t>
            </a:r>
            <a:r>
              <a:rPr lang="vi-VN" altLang="en-GB"/>
              <a:t>cấu hình ghi nhật </a:t>
            </a:r>
            <a:r>
              <a:rPr lang="vi-VN" altLang="en-GB"/>
              <a:t>ký</a:t>
            </a:r>
            <a:endParaRPr lang="vi-VN" altLang="en-GB"/>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vi-VN" altLang="en-GB">
                <a:sym typeface="+mn-ea"/>
              </a:rPr>
              <a:t>MIT Kerberos</a:t>
            </a:r>
            <a:endParaRPr lang="en-GB" altLang="en-US"/>
          </a:p>
        </p:txBody>
      </p:sp>
      <p:sp>
        <p:nvSpPr>
          <p:cNvPr id="4" name="Text Box 3"/>
          <p:cNvSpPr txBox="1"/>
          <p:nvPr/>
        </p:nvSpPr>
        <p:spPr>
          <a:xfrm>
            <a:off x="1100455" y="1544955"/>
            <a:ext cx="7618095" cy="368300"/>
          </a:xfrm>
          <a:prstGeom prst="rect">
            <a:avLst/>
          </a:prstGeom>
          <a:noFill/>
        </p:spPr>
        <p:txBody>
          <a:bodyPr wrap="square" rtlCol="0">
            <a:spAutoFit/>
          </a:bodyPr>
          <a:p>
            <a:r>
              <a:rPr lang="vi-VN" altLang="en-GB"/>
              <a:t>Tạo Enviroment Variable chỉ định nơi lưu </a:t>
            </a:r>
            <a:r>
              <a:rPr lang="vi-VN" altLang="en-GB"/>
              <a:t>ticket từ máy </a:t>
            </a:r>
            <a:r>
              <a:rPr lang="vi-VN" altLang="en-GB"/>
              <a:t>chủ </a:t>
            </a:r>
            <a:endParaRPr lang="vi-VN" altLang="en-GB"/>
          </a:p>
        </p:txBody>
      </p:sp>
      <p:pic>
        <p:nvPicPr>
          <p:cNvPr id="5" name="Picture 4"/>
          <p:cNvPicPr>
            <a:picLocks noChangeAspect="1"/>
          </p:cNvPicPr>
          <p:nvPr/>
        </p:nvPicPr>
        <p:blipFill>
          <a:blip r:embed="rId1"/>
          <a:stretch>
            <a:fillRect/>
          </a:stretch>
        </p:blipFill>
        <p:spPr>
          <a:xfrm>
            <a:off x="1108075" y="2482850"/>
            <a:ext cx="6191250" cy="15430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en-US" altLang="en-GB"/>
              <a:t>MIT Kerberos</a:t>
            </a:r>
            <a:endParaRPr lang="en-US" altLang="en-GB"/>
          </a:p>
        </p:txBody>
      </p:sp>
      <p:sp>
        <p:nvSpPr>
          <p:cNvPr id="4" name="Text Box 3"/>
          <p:cNvSpPr txBox="1"/>
          <p:nvPr/>
        </p:nvSpPr>
        <p:spPr>
          <a:xfrm>
            <a:off x="524510" y="1482725"/>
            <a:ext cx="5483860" cy="1198880"/>
          </a:xfrm>
          <a:prstGeom prst="rect">
            <a:avLst/>
          </a:prstGeom>
          <a:noFill/>
        </p:spPr>
        <p:txBody>
          <a:bodyPr wrap="square" rtlCol="0">
            <a:spAutoFit/>
          </a:bodyPr>
          <a:p>
            <a:pPr marL="285750" indent="-285750">
              <a:buFont typeface="Arial" panose="020B0604020202020204" pitchFamily="34" charset="0"/>
              <a:buChar char="•"/>
            </a:pPr>
            <a:r>
              <a:rPr lang="vi-VN" altLang="en-GB"/>
              <a:t>Vào MIT Kerberos và ấn Get Ticket và nhập tên máy chủ để xin cấp vé </a:t>
            </a:r>
            <a:r>
              <a:rPr lang="vi-VN" altLang="en-GB"/>
              <a:t>TGT</a:t>
            </a:r>
            <a:endParaRPr lang="vi-VN" altLang="en-GB"/>
          </a:p>
          <a:p>
            <a:pPr marL="285750" indent="-285750">
              <a:buFont typeface="Arial" panose="020B0604020202020204" pitchFamily="34" charset="0"/>
              <a:buChar char="•"/>
            </a:pPr>
            <a:r>
              <a:rPr lang="vi-VN" altLang="en-GB"/>
              <a:t>Sau đó truy cập vào dịch vụ SMB để lấy vé TGS </a:t>
            </a:r>
            <a:r>
              <a:rPr lang="vi-VN" altLang="en-GB"/>
              <a:t>và ST</a:t>
            </a:r>
            <a:endParaRPr lang="vi-VN" altLang="en-GB"/>
          </a:p>
        </p:txBody>
      </p:sp>
      <p:pic>
        <p:nvPicPr>
          <p:cNvPr id="8" name="Picture 7"/>
          <p:cNvPicPr>
            <a:picLocks noChangeAspect="1"/>
          </p:cNvPicPr>
          <p:nvPr/>
        </p:nvPicPr>
        <p:blipFill>
          <a:blip r:embed="rId1"/>
          <a:srcRect r="37109" b="38797"/>
          <a:stretch>
            <a:fillRect/>
          </a:stretch>
        </p:blipFill>
        <p:spPr>
          <a:xfrm>
            <a:off x="457835" y="4124960"/>
            <a:ext cx="4378960" cy="2261870"/>
          </a:xfrm>
          <a:prstGeom prst="rect">
            <a:avLst/>
          </a:prstGeom>
        </p:spPr>
      </p:pic>
      <p:pic>
        <p:nvPicPr>
          <p:cNvPr id="9" name="Picture 8"/>
          <p:cNvPicPr>
            <a:picLocks noChangeAspect="1"/>
          </p:cNvPicPr>
          <p:nvPr/>
        </p:nvPicPr>
        <p:blipFill>
          <a:blip r:embed="rId2"/>
          <a:stretch>
            <a:fillRect/>
          </a:stretch>
        </p:blipFill>
        <p:spPr>
          <a:xfrm>
            <a:off x="6246495" y="787400"/>
            <a:ext cx="5600700" cy="4476750"/>
          </a:xfrm>
          <a:prstGeom prst="rect">
            <a:avLst/>
          </a:prstGeom>
        </p:spPr>
      </p:pic>
      <p:sp>
        <p:nvSpPr>
          <p:cNvPr id="10" name="Text Box 9"/>
          <p:cNvSpPr txBox="1"/>
          <p:nvPr/>
        </p:nvSpPr>
        <p:spPr>
          <a:xfrm>
            <a:off x="5440045" y="5711825"/>
            <a:ext cx="6407150" cy="922020"/>
          </a:xfrm>
          <a:prstGeom prst="rect">
            <a:avLst/>
          </a:prstGeom>
          <a:noFill/>
        </p:spPr>
        <p:txBody>
          <a:bodyPr wrap="square" rtlCol="0">
            <a:spAutoFit/>
          </a:bodyPr>
          <a:p>
            <a:r>
              <a:rPr lang="vi-VN" altLang="en-GB"/>
              <a:t>Trạng thái của tài khoản Administrator@PHANTHEPHONG.COM.VN đã được cấp vé </a:t>
            </a:r>
            <a:r>
              <a:rPr lang="vi-VN" altLang="en-GB"/>
              <a:t>TGT</a:t>
            </a:r>
            <a:endParaRPr lang="vi-VN" altLang="en-GB"/>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en-US" altLang="en-GB"/>
              <a:t>MIT Kerberos</a:t>
            </a:r>
            <a:endParaRPr lang="en-US" altLang="en-GB"/>
          </a:p>
        </p:txBody>
      </p:sp>
      <p:sp>
        <p:nvSpPr>
          <p:cNvPr id="4" name="Text Box 3"/>
          <p:cNvSpPr txBox="1"/>
          <p:nvPr/>
        </p:nvSpPr>
        <p:spPr>
          <a:xfrm>
            <a:off x="1051560" y="1541780"/>
            <a:ext cx="4064000" cy="368300"/>
          </a:xfrm>
          <a:prstGeom prst="rect">
            <a:avLst/>
          </a:prstGeom>
          <a:noFill/>
        </p:spPr>
        <p:txBody>
          <a:bodyPr wrap="square" rtlCol="0">
            <a:spAutoFit/>
          </a:bodyPr>
          <a:p>
            <a:r>
              <a:rPr lang="vi-VN" altLang="en-GB"/>
              <a:t>Bắt và phân tích gói tin trên </a:t>
            </a:r>
            <a:r>
              <a:rPr lang="vi-VN" altLang="en-GB"/>
              <a:t>Wireshark</a:t>
            </a:r>
            <a:endParaRPr lang="vi-VN" altLang="en-GB"/>
          </a:p>
        </p:txBody>
      </p:sp>
      <p:pic>
        <p:nvPicPr>
          <p:cNvPr id="5" name="Picture 4"/>
          <p:cNvPicPr>
            <a:picLocks noChangeAspect="1"/>
          </p:cNvPicPr>
          <p:nvPr/>
        </p:nvPicPr>
        <p:blipFill>
          <a:blip r:embed="rId1"/>
          <a:stretch>
            <a:fillRect/>
          </a:stretch>
        </p:blipFill>
        <p:spPr>
          <a:xfrm>
            <a:off x="1051560" y="1910080"/>
            <a:ext cx="10389870" cy="1123950"/>
          </a:xfrm>
          <a:prstGeom prst="rect">
            <a:avLst/>
          </a:prstGeom>
        </p:spPr>
      </p:pic>
      <p:pic>
        <p:nvPicPr>
          <p:cNvPr id="6" name="Picture 5"/>
          <p:cNvPicPr>
            <a:picLocks noChangeAspect="1"/>
          </p:cNvPicPr>
          <p:nvPr/>
        </p:nvPicPr>
        <p:blipFill>
          <a:blip r:embed="rId2"/>
          <a:stretch>
            <a:fillRect/>
          </a:stretch>
        </p:blipFill>
        <p:spPr>
          <a:xfrm>
            <a:off x="1108075" y="3638550"/>
            <a:ext cx="10386695" cy="4711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tags/tag1.xml><?xml version="1.0" encoding="utf-8"?>
<p:tagLst xmlns:p="http://schemas.openxmlformats.org/presentationml/2006/main">
  <p:tag name="KSO_WM_DIAGRAM_VIRTUALLY_FRAME" val="{&quot;height&quot;:246.48141732283472,&quot;left&quot;:311.482125984252,&quot;top&quot;:147.77330708661415,&quot;width&quot;:646.7666929133859}"/>
</p:tagLst>
</file>

<file path=ppt/tags/tag2.xml><?xml version="1.0" encoding="utf-8"?>
<p:tagLst xmlns:p="http://schemas.openxmlformats.org/presentationml/2006/main">
  <p:tag name="KSO_WM_DIAGRAM_VIRTUALLY_FRAME" val="{&quot;height&quot;:246.48141732283472,&quot;left&quot;:311.482125984252,&quot;top&quot;:147.77330708661415,&quot;width&quot;:646.7666929133859}"/>
</p:tagLst>
</file>

<file path=ppt/tags/tag3.xml><?xml version="1.0" encoding="utf-8"?>
<p:tagLst xmlns:p="http://schemas.openxmlformats.org/presentationml/2006/main">
  <p:tag name="KSO_WM_DIAGRAM_VIRTUALLY_FRAME" val="{&quot;height&quot;:246.48141732283472,&quot;left&quot;:311.482125984252,&quot;top&quot;:147.77330708661415,&quot;width&quot;:646.7666929133859}"/>
</p:tagLst>
</file>

<file path=ppt/tags/tag4.xml><?xml version="1.0" encoding="utf-8"?>
<p:tagLst xmlns:p="http://schemas.openxmlformats.org/presentationml/2006/main">
  <p:tag name="KSO_WM_DIAGRAM_VIRTUALLY_FRAME" val="{&quot;height&quot;:246.48141732283472,&quot;left&quot;:311.482125984252,&quot;top&quot;:147.77330708661415,&quot;width&quot;:646.7666929133859}"/>
</p:tagLst>
</file>

<file path=ppt/tags/tag5.xml><?xml version="1.0" encoding="utf-8"?>
<p:tagLst xmlns:p="http://schemas.openxmlformats.org/presentationml/2006/main">
  <p:tag name="KSO_WM_DIAGRAM_VIRTUALLY_FRAME" val="{&quot;height&quot;:246.48141732283472,&quot;left&quot;:311.482125984252,&quot;top&quot;:147.77330708661415,&quot;width&quot;:646.7666929133859}"/>
</p:tagLst>
</file>

<file path=ppt/tags/tag6.xml><?xml version="1.0" encoding="utf-8"?>
<p:tagLst xmlns:p="http://schemas.openxmlformats.org/presentationml/2006/main">
  <p:tag name="KSO_WM_DIAGRAM_VIRTUALLY_FRAME" val="{&quot;height&quot;:246.48141732283472,&quot;left&quot;:311.482125984252,&quot;top&quot;:147.77330708661415,&quot;width&quot;:646.766692913385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3290</Words>
  <Application>WPS Presentation</Application>
  <PresentationFormat>Widescreen</PresentationFormat>
  <Paragraphs>147</Paragraphs>
  <Slides>22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vt:lpstr>
      <vt:lpstr>SimSun</vt:lpstr>
      <vt:lpstr>Wingdings</vt:lpstr>
      <vt:lpstr>Calibri</vt:lpstr>
      <vt:lpstr>Arial</vt:lpstr>
      <vt:lpstr>Times New Roman</vt:lpstr>
      <vt:lpstr>Constantia</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Kerberos</vt:lpstr>
      <vt:lpstr>Kerberos</vt:lpstr>
      <vt:lpstr>Kerberos</vt:lpstr>
      <vt:lpstr>Kerberos</vt:lpstr>
      <vt:lpstr>Kerberos</vt:lpstr>
      <vt:lpstr>Kerberos</vt:lpstr>
      <vt:lpstr>Kerberos</vt:lpstr>
      <vt:lpstr>Kerberos</vt:lpstr>
      <vt:lpstr>Kerberos</vt:lpstr>
      <vt:lpstr>Kerberos</vt:lpstr>
      <vt:lpstr>Kerberos</vt:lpstr>
      <vt:lpstr>Kerberos</vt:lpstr>
      <vt:lpstr>Kerberos</vt:lpstr>
      <vt:lpstr>PowerPoint 演示文稿</vt:lpstr>
      <vt:lpstr>MIT Kerberos</vt:lpstr>
      <vt:lpstr>MIT Kerberos</vt:lpstr>
      <vt:lpstr>MIT Kerberos</vt:lpstr>
      <vt:lpstr>MIT Kerberos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Phong Phan Thế</cp:lastModifiedBy>
  <cp:revision>4</cp:revision>
  <dcterms:created xsi:type="dcterms:W3CDTF">2025-07-23T00:59:00Z</dcterms:created>
  <dcterms:modified xsi:type="dcterms:W3CDTF">2026-06-12T09:46:22Z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1A8109C228C94C5EB8A4798B5E4CBF18_11</vt:lpwstr>
  </property>
  <property fmtid="{D5CDD505-2E9C-101B-9397-08002B2CF9AE}" pid="3" name="KSOProductBuildVer">
    <vt:lpwstr>2057-12.2.0.23202</vt:lpwstr>
  </property>
</Properties>
</file>